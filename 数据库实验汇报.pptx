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88" r:id="rId3"/>
    <p:sldId id="289" r:id="rId4"/>
    <p:sldId id="291" r:id="rId5"/>
    <p:sldId id="290" r:id="rId6"/>
    <p:sldId id="293" r:id="rId7"/>
    <p:sldId id="292" r:id="rId8"/>
    <p:sldId id="294" r:id="rId9"/>
    <p:sldId id="295" r:id="rId10"/>
    <p:sldId id="296" r:id="rId11"/>
    <p:sldId id="297" r:id="rId12"/>
    <p:sldId id="298" r:id="rId13"/>
    <p:sldId id="299" r:id="rId14"/>
    <p:sldId id="300" r:id="rId15"/>
    <p:sldId id="301" r:id="rId16"/>
    <p:sldId id="302" r:id="rId17"/>
    <p:sldId id="256" r:id="rId18"/>
    <p:sldId id="270" r:id="rId19"/>
    <p:sldId id="257" r:id="rId20"/>
    <p:sldId id="258" r:id="rId21"/>
    <p:sldId id="260" r:id="rId22"/>
    <p:sldId id="259" r:id="rId23"/>
    <p:sldId id="261" r:id="rId24"/>
    <p:sldId id="262" r:id="rId25"/>
    <p:sldId id="263" r:id="rId26"/>
    <p:sldId id="264" r:id="rId27"/>
    <p:sldId id="265" r:id="rId28"/>
    <p:sldId id="266" r:id="rId29"/>
    <p:sldId id="267" r:id="rId30"/>
    <p:sldId id="304" r:id="rId31"/>
    <p:sldId id="271" r:id="rId32"/>
    <p:sldId id="269" r:id="rId33"/>
    <p:sldId id="272" r:id="rId34"/>
    <p:sldId id="273" r:id="rId35"/>
    <p:sldId id="274" r:id="rId36"/>
    <p:sldId id="268" r:id="rId37"/>
    <p:sldId id="277" r:id="rId38"/>
    <p:sldId id="278" r:id="rId39"/>
    <p:sldId id="279" r:id="rId40"/>
    <p:sldId id="280" r:id="rId41"/>
    <p:sldId id="281" r:id="rId42"/>
    <p:sldId id="282" r:id="rId43"/>
    <p:sldId id="283" r:id="rId44"/>
    <p:sldId id="284" r:id="rId45"/>
    <p:sldId id="285" r:id="rId46"/>
    <p:sldId id="286" r:id="rId47"/>
    <p:sldId id="303"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88" d="100"/>
          <a:sy n="88" d="100"/>
        </p:scale>
        <p:origin x="65"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31C610-8513-03BE-B80D-F0654604E40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3DD9839-8678-73C6-D412-68B857DA79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F99E129-C163-D23E-A3C8-6F84CBD6F2AF}"/>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9E495A10-9D27-BD1A-2354-22EC4E54D8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967EFF8-0BDA-2D1A-7459-396A15DFB347}"/>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3842139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3AD5F-7D38-FA06-08C4-5C7330EF145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16FD348-84FB-A1BF-8379-4DB0C513BC4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6B15B5-3CC5-4D37-5DB1-891FAD784E8B}"/>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8A7A8C40-F168-4508-ED8C-38E26F7020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206E59E-8927-4E3C-8895-E6B6B3DE9505}"/>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1751385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26FE09-CAAA-E976-1E26-2DEF25FCE35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26D0312-C16B-42BC-8987-8476FE0FA2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1D1E1BC-8815-3C38-16BB-2158583C7083}"/>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1CFC8900-E790-D250-3212-38FA027C4C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92181B-D73E-B5C1-9F5D-A2F7BA6A4807}"/>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417258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7B499A-5B90-B8AF-5FB6-5FBF8A18D0B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8BE09ED-83B7-77D5-8E5A-CCF0833BE53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F0277BF-9CF5-8BBC-4DD6-0A1F6AC5C2A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A062017-5971-F153-D065-204A30881C11}"/>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6" name="页脚占位符 5">
            <a:extLst>
              <a:ext uri="{FF2B5EF4-FFF2-40B4-BE49-F238E27FC236}">
                <a16:creationId xmlns:a16="http://schemas.microsoft.com/office/drawing/2014/main" id="{A46C9198-73B5-B7B6-B02B-7091CB73BCE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382BBA1-E16B-4652-CACA-429F861A73FF}"/>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3696580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566F6-9FE5-2AA9-7C15-9A9972C496C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F486135-795F-6107-E64E-218FCF21C9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20E597E-B973-0C73-9983-72968E78BA4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BDF4188-9B20-BE22-215C-54F07F63DF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4DCF03B-0E3A-088F-55FA-41CF9327199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259AE32-4300-3B45-C1B3-F84D08A0DB39}"/>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8" name="页脚占位符 7">
            <a:extLst>
              <a:ext uri="{FF2B5EF4-FFF2-40B4-BE49-F238E27FC236}">
                <a16:creationId xmlns:a16="http://schemas.microsoft.com/office/drawing/2014/main" id="{B84C7FDE-FECE-B792-1F62-811CA771E11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1B6C67A-5379-2E0F-F348-51F0A9C0C533}"/>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4148168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EDA28-C9AA-EB11-BB6E-C9714985E07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168A6F3-4CB3-2DA4-2094-512464BBE4E9}"/>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4" name="页脚占位符 3">
            <a:extLst>
              <a:ext uri="{FF2B5EF4-FFF2-40B4-BE49-F238E27FC236}">
                <a16:creationId xmlns:a16="http://schemas.microsoft.com/office/drawing/2014/main" id="{8DBD03C3-5B37-CFCA-A773-563BB5F5EEC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35637AA-A276-E0E1-EA0E-154AC3131B40}"/>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2409520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52E617-CACF-110D-C11A-9A453046BE57}"/>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3" name="页脚占位符 2">
            <a:extLst>
              <a:ext uri="{FF2B5EF4-FFF2-40B4-BE49-F238E27FC236}">
                <a16:creationId xmlns:a16="http://schemas.microsoft.com/office/drawing/2014/main" id="{2386F140-C5CB-05C3-2996-36C83966596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89CDC28-6450-910C-268A-0461AE50BCF8}"/>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415182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2805A-1596-3698-1F8F-B936448C402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044D605-14C5-5DD7-6C5A-A61F2A6504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976A0F6-884F-281A-A925-106F3A38E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5FAC211-D3A7-4426-93C0-3616F333C047}"/>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6" name="页脚占位符 5">
            <a:extLst>
              <a:ext uri="{FF2B5EF4-FFF2-40B4-BE49-F238E27FC236}">
                <a16:creationId xmlns:a16="http://schemas.microsoft.com/office/drawing/2014/main" id="{54F0E002-32DC-7EFB-43F4-17276A8A04C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4ECD175-C927-FA94-C7E5-4C91EA9A86E2}"/>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3508429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BFD3E8-BC6A-A291-A5FB-61515EA1A86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EFF26CA-D53F-78D4-2C74-D839187E9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5C9CC13-CFA2-4EAE-75AE-92C67DDBAA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F18BB18-CDE8-86C3-D45E-85D23C73D7F1}"/>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6" name="页脚占位符 5">
            <a:extLst>
              <a:ext uri="{FF2B5EF4-FFF2-40B4-BE49-F238E27FC236}">
                <a16:creationId xmlns:a16="http://schemas.microsoft.com/office/drawing/2014/main" id="{AABCDD2D-766F-E05C-0C36-258C41ADC3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30C28F4-531B-7A32-7A44-375CEFAF5460}"/>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859821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8A115C-F0F4-6747-9369-C027FE4D53A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597CDA7-764D-9081-3087-A9AB4C5EE81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AB9FC3-7D90-10A9-1C0B-05734FDBC803}"/>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95B7E57F-C82C-AA4F-72AB-AC7E5799F1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A0E6D3-8956-6D4C-B175-B215BED4D055}"/>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317361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8EF2398-7BE6-B505-234F-B7C4A8B76F5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5CC708C-0A94-58B1-19B6-98EA95E4F99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9799CB-D70C-5C89-37C7-91211281B629}"/>
              </a:ext>
            </a:extLst>
          </p:cNvPr>
          <p:cNvSpPr>
            <a:spLocks noGrp="1"/>
          </p:cNvSpPr>
          <p:nvPr>
            <p:ph type="dt" sz="half" idx="10"/>
          </p:nvPr>
        </p:nvSpPr>
        <p:spPr/>
        <p:txBody>
          <a:bodyPr/>
          <a:lstStyle/>
          <a:p>
            <a:fld id="{83047F85-45EC-4725-8411-26707B5702FA}"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FCA9427B-D06A-181C-1DD7-8E252A2564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CC344F-6595-6F1E-93B2-E40F3C478866}"/>
              </a:ext>
            </a:extLst>
          </p:cNvPr>
          <p:cNvSpPr>
            <a:spLocks noGrp="1"/>
          </p:cNvSpPr>
          <p:nvPr>
            <p:ph type="sldNum" sz="quarter" idx="12"/>
          </p:nvPr>
        </p:nvSpPr>
        <p:spPr/>
        <p:txBody>
          <a:body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1405817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4AD968C-2502-DC88-532C-153C6FC000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CEE9C56-2808-4418-DFE0-D1D2DF9E49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63E4D8-1FC6-13E7-8307-A85E328E26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047F85-45EC-4725-8411-26707B5702FA}"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5A9035E5-4487-488E-1827-276848FA63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E8007E1-CE5A-3CE6-4D29-C1C70754EB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17519C-9990-4DE6-8920-21A564EC6821}" type="slidenum">
              <a:rPr lang="zh-CN" altLang="en-US" smtClean="0"/>
              <a:t>‹#›</a:t>
            </a:fld>
            <a:endParaRPr lang="zh-CN" altLang="en-US"/>
          </a:p>
        </p:txBody>
      </p:sp>
    </p:spTree>
    <p:extLst>
      <p:ext uri="{BB962C8B-B14F-4D97-AF65-F5344CB8AC3E}">
        <p14:creationId xmlns:p14="http://schemas.microsoft.com/office/powerpoint/2010/main" val="4046044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76C809C-E255-06C0-321F-1527A6858785}"/>
              </a:ext>
            </a:extLst>
          </p:cNvPr>
          <p:cNvSpPr txBox="1">
            <a:spLocks/>
          </p:cNvSpPr>
          <p:nvPr/>
        </p:nvSpPr>
        <p:spPr>
          <a:xfrm>
            <a:off x="1604865" y="2005660"/>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dirty="0"/>
              <a:t>Project1</a:t>
            </a:r>
            <a:endParaRPr lang="zh-CN" altLang="en-US" dirty="0"/>
          </a:p>
        </p:txBody>
      </p:sp>
    </p:spTree>
    <p:extLst>
      <p:ext uri="{BB962C8B-B14F-4D97-AF65-F5344CB8AC3E}">
        <p14:creationId xmlns:p14="http://schemas.microsoft.com/office/powerpoint/2010/main" val="2411198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3D43CE1-E835-5AD1-7ED9-B35B2659FA00}"/>
              </a:ext>
            </a:extLst>
          </p:cNvPr>
          <p:cNvSpPr txBox="1"/>
          <p:nvPr/>
        </p:nvSpPr>
        <p:spPr>
          <a:xfrm>
            <a:off x="2954694" y="2561644"/>
            <a:ext cx="6096000" cy="584775"/>
          </a:xfrm>
          <a:prstGeom prst="rect">
            <a:avLst/>
          </a:prstGeom>
          <a:noFill/>
        </p:spPr>
        <p:txBody>
          <a:bodyPr wrap="square">
            <a:spAutoFit/>
          </a:bodyPr>
          <a:lstStyle/>
          <a:p>
            <a:pPr marL="0" indent="0" algn="ctr">
              <a:buNone/>
            </a:pPr>
            <a:r>
              <a:rPr lang="zh-CN" altLang="en-US" sz="3200" dirty="0"/>
              <a:t>可扩展哈希</a:t>
            </a:r>
            <a:endParaRPr lang="en-US" altLang="zh-CN" sz="3200" dirty="0"/>
          </a:p>
        </p:txBody>
      </p:sp>
    </p:spTree>
    <p:extLst>
      <p:ext uri="{BB962C8B-B14F-4D97-AF65-F5344CB8AC3E}">
        <p14:creationId xmlns:p14="http://schemas.microsoft.com/office/powerpoint/2010/main" val="109452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示&#10;&#10;AI 生成的内容可能不正确。">
            <a:extLst>
              <a:ext uri="{FF2B5EF4-FFF2-40B4-BE49-F238E27FC236}">
                <a16:creationId xmlns:a16="http://schemas.microsoft.com/office/drawing/2014/main" id="{C72C18ED-F46B-9983-F102-952BFEC4AFFC}"/>
              </a:ext>
            </a:extLst>
          </p:cNvPr>
          <p:cNvPicPr>
            <a:picLocks noChangeAspect="1"/>
          </p:cNvPicPr>
          <p:nvPr/>
        </p:nvPicPr>
        <p:blipFill>
          <a:blip r:embed="rId2"/>
          <a:stretch>
            <a:fillRect/>
          </a:stretch>
        </p:blipFill>
        <p:spPr>
          <a:xfrm>
            <a:off x="5210429" y="1623526"/>
            <a:ext cx="6981571" cy="4562669"/>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22038E6-067E-F9B4-E82E-4BF38DCC4257}"/>
                  </a:ext>
                </a:extLst>
              </p:cNvPr>
              <p:cNvSpPr txBox="1"/>
              <p:nvPr/>
            </p:nvSpPr>
            <p:spPr>
              <a:xfrm>
                <a:off x="111967" y="205350"/>
                <a:ext cx="4758613" cy="5439951"/>
              </a:xfrm>
              <a:prstGeom prst="rect">
                <a:avLst/>
              </a:prstGeom>
              <a:noFill/>
            </p:spPr>
            <p:txBody>
              <a:bodyPr wrap="square">
                <a:spAutoFit/>
              </a:bodyPr>
              <a:lstStyle/>
              <a:p>
                <a:pPr algn="l">
                  <a:spcBef>
                    <a:spcPts val="600"/>
                  </a:spcBef>
                  <a:spcAft>
                    <a:spcPts val="1800"/>
                  </a:spcAft>
                </a:pPr>
                <a:r>
                  <a:rPr lang="en-US" altLang="zh-CN" b="1" i="0" dirty="0">
                    <a:effectLst/>
                    <a:latin typeface="-apple-system"/>
                  </a:rPr>
                  <a:t>Directory</a:t>
                </a:r>
                <a:r>
                  <a:rPr lang="zh-CN" altLang="en-US" b="0" i="0" dirty="0">
                    <a:effectLst/>
                    <a:latin typeface="-apple-system"/>
                  </a:rPr>
                  <a:t>：是存放</a:t>
                </a:r>
                <a:r>
                  <a:rPr lang="en-US" altLang="zh-CN" b="0" i="0" dirty="0">
                    <a:effectLst/>
                    <a:latin typeface="-apple-system"/>
                  </a:rPr>
                  <a:t>bucket</a:t>
                </a:r>
                <a:r>
                  <a:rPr lang="zh-CN" altLang="en-US" b="0" i="0" dirty="0">
                    <a:effectLst/>
                    <a:latin typeface="-apple-system"/>
                  </a:rPr>
                  <a:t>指针的容器，可动态生长（以原大小的倍数作为增长率），容器的每个元素可用哈希值来索引。</a:t>
                </a:r>
              </a:p>
              <a:p>
                <a:pPr algn="l">
                  <a:spcBef>
                    <a:spcPts val="600"/>
                  </a:spcBef>
                  <a:spcAft>
                    <a:spcPts val="1800"/>
                  </a:spcAft>
                </a:pPr>
                <a:r>
                  <a:rPr lang="en-US" altLang="zh-CN" b="1" i="0" dirty="0">
                    <a:effectLst/>
                    <a:latin typeface="-apple-system"/>
                  </a:rPr>
                  <a:t>Bucket</a:t>
                </a:r>
                <a:r>
                  <a:rPr lang="zh-CN" altLang="en-US" b="0" i="0" dirty="0">
                    <a:effectLst/>
                    <a:latin typeface="-apple-system"/>
                  </a:rPr>
                  <a:t>：桶。存放</a:t>
                </a:r>
                <a:r>
                  <a:rPr lang="en-US" altLang="zh-CN" b="0" i="0" dirty="0">
                    <a:effectLst/>
                    <a:latin typeface="-apple-system"/>
                  </a:rPr>
                  <a:t>Key/value pair</a:t>
                </a:r>
                <a:r>
                  <a:rPr lang="zh-CN" altLang="en-US" b="0" i="0" dirty="0">
                    <a:effectLst/>
                    <a:latin typeface="-apple-system"/>
                  </a:rPr>
                  <a:t>的桶，数据结构层面是一个线性表。</a:t>
                </a:r>
                <a:endParaRPr lang="en-US" altLang="zh-CN" b="0" i="0" dirty="0">
                  <a:effectLst/>
                  <a:latin typeface="-apple-system"/>
                </a:endParaRPr>
              </a:p>
              <a:p>
                <a:pPr>
                  <a:spcBef>
                    <a:spcPts val="600"/>
                  </a:spcBef>
                  <a:spcAft>
                    <a:spcPts val="1800"/>
                  </a:spcAft>
                </a:pPr>
                <a:r>
                  <a:rPr lang="en-US" altLang="zh-CN" b="1" dirty="0">
                    <a:latin typeface="-apple-system"/>
                  </a:rPr>
                  <a:t>Global Depth</a:t>
                </a:r>
                <a:r>
                  <a:rPr lang="zh-CN" altLang="en-US" dirty="0">
                    <a:latin typeface="-apple-system"/>
                  </a:rPr>
                  <a:t>：假设</a:t>
                </a:r>
                <a:r>
                  <a:rPr lang="en-US" altLang="zh-CN" dirty="0">
                    <a:latin typeface="-apple-system"/>
                  </a:rPr>
                  <a:t>global depth</a:t>
                </a:r>
                <a:r>
                  <a:rPr lang="zh-CN" altLang="en-US" dirty="0">
                    <a:latin typeface="-apple-system"/>
                  </a:rPr>
                  <a:t>为</a:t>
                </a:r>
                <a:r>
                  <a:rPr lang="en-US" altLang="zh-CN" dirty="0">
                    <a:latin typeface="-apple-system"/>
                  </a:rPr>
                  <a:t>n</a:t>
                </a:r>
                <a:r>
                  <a:rPr lang="zh-CN" altLang="en-US" dirty="0">
                    <a:latin typeface="-apple-system"/>
                  </a:rPr>
                  <a:t>，那么当前的</a:t>
                </a:r>
                <a:r>
                  <a:rPr lang="en-US" altLang="zh-CN" dirty="0">
                    <a:latin typeface="-apple-system"/>
                  </a:rPr>
                  <a:t>directory</a:t>
                </a:r>
                <a:r>
                  <a:rPr lang="zh-CN" altLang="en-US" dirty="0">
                    <a:latin typeface="-apple-system"/>
                  </a:rPr>
                  <a:t>必定有</a:t>
                </a:r>
                <a14:m>
                  <m:oMath xmlns:m="http://schemas.openxmlformats.org/officeDocument/2006/math">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2</m:t>
                        </m:r>
                      </m:e>
                      <m:sup>
                        <m:r>
                          <m:rPr>
                            <m:sty m:val="p"/>
                          </m:rPr>
                          <a:rPr lang="en-US" altLang="zh-CN" b="0" i="1" dirty="0" smtClean="0">
                            <a:latin typeface="Cambria Math" panose="02040503050406030204" pitchFamily="18" charset="0"/>
                          </a:rPr>
                          <m:t>n</m:t>
                        </m:r>
                      </m:sup>
                    </m:sSup>
                  </m:oMath>
                </a14:m>
                <a:r>
                  <a:rPr lang="en-US" altLang="zh-CN" dirty="0">
                    <a:latin typeface="-apple-system"/>
                  </a:rPr>
                  <a:t> </a:t>
                </a:r>
                <a:r>
                  <a:rPr lang="zh-CN" altLang="en-US" dirty="0">
                    <a:latin typeface="-apple-system"/>
                  </a:rPr>
                  <a:t>个条目。同时</a:t>
                </a:r>
                <a:r>
                  <a:rPr lang="zh-CN" altLang="en-US" dirty="0"/>
                  <a:t>决定使用哈希值的低</a:t>
                </a:r>
                <a14:m>
                  <m:oMath xmlns:m="http://schemas.openxmlformats.org/officeDocument/2006/math">
                    <m:r>
                      <a:rPr lang="en-US" altLang="zh-CN" i="1" dirty="0" smtClean="0">
                        <a:latin typeface="Cambria Math" panose="02040503050406030204" pitchFamily="18" charset="0"/>
                      </a:rPr>
                      <m:t>𝑛</m:t>
                    </m:r>
                  </m:oMath>
                </a14:m>
                <a:r>
                  <a:rPr lang="zh-CN" altLang="en-US" dirty="0"/>
                  <a:t>位来计算目录索引</a:t>
                </a:r>
                <a:endParaRPr lang="en-US" altLang="zh-CN" dirty="0"/>
              </a:p>
              <a:p>
                <a:pPr>
                  <a:spcBef>
                    <a:spcPts val="600"/>
                  </a:spcBef>
                  <a:spcAft>
                    <a:spcPts val="1800"/>
                  </a:spcAft>
                </a:pPr>
                <a:r>
                  <a:rPr lang="en-US" altLang="zh-CN" b="1" dirty="0">
                    <a:latin typeface="-apple-system"/>
                  </a:rPr>
                  <a:t>Local Depth</a:t>
                </a:r>
                <a:r>
                  <a:rPr lang="zh-CN" altLang="en-US" dirty="0">
                    <a:latin typeface="-apple-system"/>
                  </a:rPr>
                  <a:t>：</a:t>
                </a:r>
                <a:r>
                  <a:rPr lang="en-US" altLang="zh-CN" dirty="0">
                    <a:latin typeface="-apple-system"/>
                  </a:rPr>
                  <a:t>local depth</a:t>
                </a:r>
                <a:r>
                  <a:rPr lang="zh-CN" altLang="en-US" dirty="0">
                    <a:latin typeface="-apple-system"/>
                  </a:rPr>
                  <a:t>指的是（假设</a:t>
                </a:r>
                <a:r>
                  <a:rPr lang="en-US" altLang="zh-CN" dirty="0">
                    <a:latin typeface="-apple-system"/>
                  </a:rPr>
                  <a:t>local depth</a:t>
                </a:r>
                <a:r>
                  <a:rPr lang="zh-CN" altLang="en-US" dirty="0">
                    <a:latin typeface="-apple-system"/>
                  </a:rPr>
                  <a:t>为</a:t>
                </a:r>
                <a:r>
                  <a:rPr lang="en-US" altLang="zh-CN" dirty="0">
                    <a:latin typeface="-apple-system"/>
                  </a:rPr>
                  <a:t>n</a:t>
                </a:r>
                <a:r>
                  <a:rPr lang="zh-CN" altLang="en-US" dirty="0">
                    <a:latin typeface="-apple-system"/>
                  </a:rPr>
                  <a:t>），在当前的</a:t>
                </a:r>
                <a:r>
                  <a:rPr lang="en-US" altLang="zh-CN" dirty="0">
                    <a:latin typeface="-apple-system"/>
                  </a:rPr>
                  <a:t>bucket</a:t>
                </a:r>
                <a:r>
                  <a:rPr lang="zh-CN" altLang="en-US" dirty="0">
                    <a:latin typeface="-apple-system"/>
                  </a:rPr>
                  <a:t>之下，每个元素的</a:t>
                </a:r>
                <a:r>
                  <a:rPr lang="en-US" altLang="zh-CN" dirty="0">
                    <a:latin typeface="-apple-system"/>
                  </a:rPr>
                  <a:t>key</a:t>
                </a:r>
                <a:r>
                  <a:rPr lang="zh-CN" altLang="en-US" dirty="0">
                    <a:latin typeface="-apple-system"/>
                  </a:rPr>
                  <a:t>的低</a:t>
                </a:r>
                <a:r>
                  <a:rPr lang="en-US" altLang="zh-CN" dirty="0">
                    <a:latin typeface="-apple-system"/>
                  </a:rPr>
                  <a:t>n</a:t>
                </a:r>
                <a:r>
                  <a:rPr lang="zh-CN" altLang="en-US" dirty="0">
                    <a:latin typeface="-apple-system"/>
                  </a:rPr>
                  <a:t>位都是相同的。</a:t>
                </a:r>
                <a:endParaRPr lang="en-US" altLang="zh-CN" dirty="0">
                  <a:latin typeface="-apple-system"/>
                </a:endParaRPr>
              </a:p>
              <a:p>
                <a:pPr>
                  <a:spcBef>
                    <a:spcPts val="600"/>
                  </a:spcBef>
                  <a:spcAft>
                    <a:spcPts val="1800"/>
                  </a:spcAft>
                </a:pPr>
                <a:r>
                  <a:rPr lang="zh-CN" altLang="en-US" dirty="0">
                    <a:latin typeface="-apple-system"/>
                  </a:rPr>
                  <a:t>计算当前</a:t>
                </a:r>
                <a:r>
                  <a:rPr lang="en-US" altLang="zh-CN" dirty="0">
                    <a:latin typeface="-apple-system"/>
                  </a:rPr>
                  <a:t>bucket</a:t>
                </a:r>
                <a:r>
                  <a:rPr lang="zh-CN" altLang="en-US" dirty="0">
                    <a:latin typeface="-apple-system"/>
                  </a:rPr>
                  <a:t>有几个指针指向它的公式是：</a:t>
                </a:r>
                <a:endParaRPr lang="en-US" altLang="zh-CN" dirty="0">
                  <a:latin typeface="-apple-system"/>
                </a:endParaRPr>
              </a:p>
              <a:p>
                <a:pPr>
                  <a:spcBef>
                    <a:spcPts val="600"/>
                  </a:spcBef>
                  <a:spcAft>
                    <a:spcPts val="1800"/>
                  </a:spcAft>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2</m:t>
                          </m:r>
                        </m:e>
                        <m:sup>
                          <m:r>
                            <m:rPr>
                              <m:nor/>
                            </m:rPr>
                            <a:rPr lang="en-US" altLang="zh-CN" i="0" dirty="0" err="1">
                              <a:latin typeface="Cambria Math" panose="02040503050406030204" pitchFamily="18" charset="0"/>
                            </a:rPr>
                            <m:t>globalDepth</m:t>
                          </m:r>
                          <m:r>
                            <a:rPr lang="en-US" altLang="zh-CN" i="1" dirty="0">
                              <a:latin typeface="Cambria Math" panose="02040503050406030204" pitchFamily="18" charset="0"/>
                            </a:rPr>
                            <m:t>−</m:t>
                          </m:r>
                          <m:r>
                            <m:rPr>
                              <m:nor/>
                            </m:rPr>
                            <a:rPr lang="en-US" altLang="zh-CN" i="0" dirty="0" err="1">
                              <a:latin typeface="Cambria Math" panose="02040503050406030204" pitchFamily="18" charset="0"/>
                            </a:rPr>
                            <m:t>localDepth</m:t>
                          </m:r>
                        </m:sup>
                      </m:sSup>
                    </m:oMath>
                  </m:oMathPara>
                </a14:m>
                <a:endParaRPr lang="en-US" altLang="zh-CN" dirty="0">
                  <a:latin typeface="-apple-system"/>
                </a:endParaRPr>
              </a:p>
            </p:txBody>
          </p:sp>
        </mc:Choice>
        <mc:Fallback xmlns="">
          <p:sp>
            <p:nvSpPr>
              <p:cNvPr id="11" name="文本框 10">
                <a:extLst>
                  <a:ext uri="{FF2B5EF4-FFF2-40B4-BE49-F238E27FC236}">
                    <a16:creationId xmlns:a16="http://schemas.microsoft.com/office/drawing/2014/main" id="{122038E6-067E-F9B4-E82E-4BF38DCC4257}"/>
                  </a:ext>
                </a:extLst>
              </p:cNvPr>
              <p:cNvSpPr txBox="1">
                <a:spLocks noRot="1" noChangeAspect="1" noMove="1" noResize="1" noEditPoints="1" noAdjustHandles="1" noChangeArrowheads="1" noChangeShapeType="1" noTextEdit="1"/>
              </p:cNvSpPr>
              <p:nvPr/>
            </p:nvSpPr>
            <p:spPr>
              <a:xfrm>
                <a:off x="111967" y="205350"/>
                <a:ext cx="4758613" cy="5439951"/>
              </a:xfrm>
              <a:prstGeom prst="rect">
                <a:avLst/>
              </a:prstGeom>
              <a:blipFill>
                <a:blip r:embed="rId3"/>
                <a:stretch>
                  <a:fillRect l="-1024" t="-673" r="-11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5459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FBCDC2B-522F-A366-3DBA-60B766C0D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6663" y="1402933"/>
            <a:ext cx="4504913" cy="1829506"/>
          </a:xfrm>
          <a:prstGeom prst="rect">
            <a:avLst/>
          </a:prstGeom>
        </p:spPr>
      </p:pic>
      <p:sp>
        <p:nvSpPr>
          <p:cNvPr id="8" name="文本框 7">
            <a:extLst>
              <a:ext uri="{FF2B5EF4-FFF2-40B4-BE49-F238E27FC236}">
                <a16:creationId xmlns:a16="http://schemas.microsoft.com/office/drawing/2014/main" id="{A4C85E8E-BEE1-E8C7-56DA-43ECF78EB07E}"/>
              </a:ext>
            </a:extLst>
          </p:cNvPr>
          <p:cNvSpPr txBox="1"/>
          <p:nvPr/>
        </p:nvSpPr>
        <p:spPr>
          <a:xfrm>
            <a:off x="0" y="0"/>
            <a:ext cx="4435151" cy="369332"/>
          </a:xfrm>
          <a:prstGeom prst="rect">
            <a:avLst/>
          </a:prstGeom>
          <a:noFill/>
        </p:spPr>
        <p:txBody>
          <a:bodyPr wrap="square" rtlCol="0">
            <a:spAutoFit/>
          </a:bodyPr>
          <a:lstStyle/>
          <a:p>
            <a:r>
              <a:rPr lang="zh-CN" altLang="en-US" dirty="0"/>
              <a:t>查找</a:t>
            </a:r>
            <a:r>
              <a:rPr lang="en-US" altLang="zh-CN" dirty="0"/>
              <a:t>/</a:t>
            </a:r>
            <a:r>
              <a:rPr lang="zh-CN" altLang="en-US" dirty="0"/>
              <a:t>删除</a:t>
            </a:r>
          </a:p>
        </p:txBody>
      </p:sp>
      <p:pic>
        <p:nvPicPr>
          <p:cNvPr id="10" name="图片 9">
            <a:extLst>
              <a:ext uri="{FF2B5EF4-FFF2-40B4-BE49-F238E27FC236}">
                <a16:creationId xmlns:a16="http://schemas.microsoft.com/office/drawing/2014/main" id="{FFE11087-2596-1437-94DA-9CF543E5C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6453" y="1412730"/>
            <a:ext cx="4088931" cy="1819709"/>
          </a:xfrm>
          <a:prstGeom prst="rect">
            <a:avLst/>
          </a:prstGeom>
        </p:spPr>
      </p:pic>
      <p:pic>
        <p:nvPicPr>
          <p:cNvPr id="13" name="图片 12">
            <a:extLst>
              <a:ext uri="{FF2B5EF4-FFF2-40B4-BE49-F238E27FC236}">
                <a16:creationId xmlns:a16="http://schemas.microsoft.com/office/drawing/2014/main" id="{FAD302B6-0853-0D76-43A7-ADFD7BA075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6665" y="3725242"/>
            <a:ext cx="4504912" cy="2010992"/>
          </a:xfrm>
          <a:prstGeom prst="rect">
            <a:avLst/>
          </a:prstGeom>
        </p:spPr>
      </p:pic>
      <p:pic>
        <p:nvPicPr>
          <p:cNvPr id="15" name="图片 14">
            <a:extLst>
              <a:ext uri="{FF2B5EF4-FFF2-40B4-BE49-F238E27FC236}">
                <a16:creationId xmlns:a16="http://schemas.microsoft.com/office/drawing/2014/main" id="{5CAF90BD-67BE-2565-1860-EDC8D55714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6453" y="3725673"/>
            <a:ext cx="4152766" cy="2010561"/>
          </a:xfrm>
          <a:prstGeom prst="rect">
            <a:avLst/>
          </a:prstGeom>
        </p:spPr>
      </p:pic>
      <p:sp>
        <p:nvSpPr>
          <p:cNvPr id="17" name="文本框 16">
            <a:extLst>
              <a:ext uri="{FF2B5EF4-FFF2-40B4-BE49-F238E27FC236}">
                <a16:creationId xmlns:a16="http://schemas.microsoft.com/office/drawing/2014/main" id="{6ACFBB6B-DB1F-39B6-B6BB-72CB71CA31BD}"/>
              </a:ext>
            </a:extLst>
          </p:cNvPr>
          <p:cNvSpPr txBox="1"/>
          <p:nvPr/>
        </p:nvSpPr>
        <p:spPr>
          <a:xfrm>
            <a:off x="0" y="1720840"/>
            <a:ext cx="2282890" cy="4247317"/>
          </a:xfrm>
          <a:prstGeom prst="rect">
            <a:avLst/>
          </a:prstGeom>
          <a:noFill/>
        </p:spPr>
        <p:txBody>
          <a:bodyPr wrap="square">
            <a:spAutoFit/>
          </a:bodyPr>
          <a:lstStyle/>
          <a:p>
            <a:pPr marL="342900" indent="-342900" algn="l">
              <a:buFont typeface="+mj-lt"/>
              <a:buAutoNum type="arabicPeriod"/>
            </a:pPr>
            <a:r>
              <a:rPr lang="zh-CN" altLang="en-US" b="0" i="0" dirty="0">
                <a:solidFill>
                  <a:srgbClr val="1D1D20"/>
                </a:solidFill>
                <a:effectLst/>
                <a:latin typeface="system-ui"/>
              </a:rPr>
              <a:t>首先使用哈希函数对键进行哈希</a:t>
            </a:r>
          </a:p>
          <a:p>
            <a:pPr marL="342900" indent="-342900" algn="l">
              <a:buFont typeface="+mj-lt"/>
              <a:buAutoNum type="arabicPeriod"/>
            </a:pPr>
            <a:r>
              <a:rPr lang="zh-CN" altLang="en-US" b="0" i="0" dirty="0">
                <a:solidFill>
                  <a:srgbClr val="1D1D20"/>
                </a:solidFill>
                <a:effectLst/>
                <a:latin typeface="system-ui"/>
              </a:rPr>
              <a:t>根据全局深度确定需要查看哈希值的前几位</a:t>
            </a:r>
          </a:p>
          <a:p>
            <a:pPr marL="342900" indent="-342900" algn="l">
              <a:buFont typeface="+mj-lt"/>
              <a:buAutoNum type="arabicPeriod"/>
            </a:pPr>
            <a:r>
              <a:rPr lang="zh-CN" altLang="en-US" b="0" i="0" dirty="0">
                <a:solidFill>
                  <a:srgbClr val="1D1D20"/>
                </a:solidFill>
                <a:effectLst/>
                <a:latin typeface="system-ui"/>
              </a:rPr>
              <a:t>通过这几位确定目录中的索引位置</a:t>
            </a:r>
          </a:p>
          <a:p>
            <a:pPr marL="342900" indent="-342900" algn="l">
              <a:buFont typeface="+mj-lt"/>
              <a:buAutoNum type="arabicPeriod"/>
            </a:pPr>
            <a:r>
              <a:rPr lang="zh-CN" altLang="en-US" b="0" i="0" dirty="0">
                <a:solidFill>
                  <a:srgbClr val="1D1D20"/>
                </a:solidFill>
                <a:effectLst/>
                <a:latin typeface="system-ui"/>
              </a:rPr>
              <a:t>找到对应的桶</a:t>
            </a:r>
            <a:endParaRPr lang="en-US" altLang="zh-CN" dirty="0">
              <a:solidFill>
                <a:srgbClr val="1D1D20"/>
              </a:solidFill>
              <a:latin typeface="system-ui"/>
            </a:endParaRPr>
          </a:p>
          <a:p>
            <a:pPr marL="342900" indent="-342900" algn="l">
              <a:buFont typeface="+mj-lt"/>
              <a:buAutoNum type="arabicPeriod"/>
            </a:pPr>
            <a:r>
              <a:rPr lang="zh-CN" altLang="en-US" b="0" i="0" dirty="0">
                <a:solidFill>
                  <a:srgbClr val="1D1D20"/>
                </a:solidFill>
                <a:effectLst/>
                <a:latin typeface="system-ui"/>
              </a:rPr>
              <a:t>在该桶内线性搜索查找具体的键值对</a:t>
            </a:r>
            <a:endParaRPr lang="en-US" altLang="zh-CN" b="0" i="0" dirty="0">
              <a:solidFill>
                <a:srgbClr val="1D1D20"/>
              </a:solidFill>
              <a:effectLst/>
              <a:latin typeface="system-ui"/>
            </a:endParaRPr>
          </a:p>
          <a:p>
            <a:pPr marL="342900" indent="-342900">
              <a:buFont typeface="+mj-lt"/>
              <a:buAutoNum type="arabicPeriod"/>
            </a:pPr>
            <a:r>
              <a:rPr lang="zh-CN" altLang="en-US" dirty="0"/>
              <a:t>如果找到，就从桶中移除该键值对</a:t>
            </a:r>
            <a:r>
              <a:rPr lang="zh-CN" altLang="en-US" dirty="0">
                <a:solidFill>
                  <a:srgbClr val="1D1D20"/>
                </a:solidFill>
                <a:latin typeface="system-ui"/>
              </a:rPr>
              <a:t>（删除）</a:t>
            </a:r>
            <a:endParaRPr lang="zh-CN" altLang="en-US" dirty="0"/>
          </a:p>
        </p:txBody>
      </p:sp>
    </p:spTree>
    <p:extLst>
      <p:ext uri="{BB962C8B-B14F-4D97-AF65-F5344CB8AC3E}">
        <p14:creationId xmlns:p14="http://schemas.microsoft.com/office/powerpoint/2010/main" val="3721020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7BCEADE-6B9A-895D-5782-5457443A7862}"/>
              </a:ext>
            </a:extLst>
          </p:cNvPr>
          <p:cNvSpPr txBox="1"/>
          <p:nvPr/>
        </p:nvSpPr>
        <p:spPr>
          <a:xfrm>
            <a:off x="0" y="0"/>
            <a:ext cx="6096000" cy="369332"/>
          </a:xfrm>
          <a:prstGeom prst="rect">
            <a:avLst/>
          </a:prstGeom>
          <a:noFill/>
        </p:spPr>
        <p:txBody>
          <a:bodyPr wrap="square">
            <a:spAutoFit/>
          </a:bodyPr>
          <a:lstStyle/>
          <a:p>
            <a:r>
              <a:rPr lang="zh-CN" altLang="en-US" dirty="0"/>
              <a:t>插入</a:t>
            </a:r>
          </a:p>
        </p:txBody>
      </p:sp>
      <p:pic>
        <p:nvPicPr>
          <p:cNvPr id="11" name="图片 10" descr="图示&#10;&#10;AI 生成的内容可能不正确。">
            <a:extLst>
              <a:ext uri="{FF2B5EF4-FFF2-40B4-BE49-F238E27FC236}">
                <a16:creationId xmlns:a16="http://schemas.microsoft.com/office/drawing/2014/main" id="{05785203-4E7D-509A-9157-E4514632FA97}"/>
              </a:ext>
            </a:extLst>
          </p:cNvPr>
          <p:cNvPicPr>
            <a:picLocks noChangeAspect="1"/>
          </p:cNvPicPr>
          <p:nvPr/>
        </p:nvPicPr>
        <p:blipFill>
          <a:blip r:embed="rId2"/>
          <a:stretch>
            <a:fillRect/>
          </a:stretch>
        </p:blipFill>
        <p:spPr>
          <a:xfrm>
            <a:off x="5010410" y="649251"/>
            <a:ext cx="1847033" cy="1266635"/>
          </a:xfrm>
          <a:prstGeom prst="rect">
            <a:avLst/>
          </a:prstGeom>
        </p:spPr>
      </p:pic>
      <p:sp>
        <p:nvSpPr>
          <p:cNvPr id="12" name="文本框 11">
            <a:extLst>
              <a:ext uri="{FF2B5EF4-FFF2-40B4-BE49-F238E27FC236}">
                <a16:creationId xmlns:a16="http://schemas.microsoft.com/office/drawing/2014/main" id="{2C6DADF0-98A0-C269-0C3A-C9BC787F8F7E}"/>
              </a:ext>
            </a:extLst>
          </p:cNvPr>
          <p:cNvSpPr txBox="1"/>
          <p:nvPr/>
        </p:nvSpPr>
        <p:spPr>
          <a:xfrm>
            <a:off x="4963886" y="279918"/>
            <a:ext cx="7109926" cy="369332"/>
          </a:xfrm>
          <a:prstGeom prst="rect">
            <a:avLst/>
          </a:prstGeom>
          <a:noFill/>
        </p:spPr>
        <p:txBody>
          <a:bodyPr wrap="square" rtlCol="0">
            <a:spAutoFit/>
          </a:bodyPr>
          <a:lstStyle/>
          <a:p>
            <a:r>
              <a:rPr lang="zh-CN" altLang="en-US" dirty="0"/>
              <a:t>以插入</a:t>
            </a:r>
            <a:r>
              <a:rPr lang="en-US" altLang="zh-CN" dirty="0"/>
              <a:t>22</a:t>
            </a:r>
            <a:r>
              <a:rPr lang="zh-CN" altLang="en-US" dirty="0"/>
              <a:t>为例（</a:t>
            </a:r>
            <a:r>
              <a:rPr lang="en-US" altLang="zh-CN" dirty="0"/>
              <a:t>Bucket</a:t>
            </a:r>
            <a:r>
              <a:rPr lang="zh-CN" altLang="en-US" dirty="0"/>
              <a:t>的大小为</a:t>
            </a:r>
            <a:r>
              <a:rPr lang="en-US" altLang="zh-CN" dirty="0"/>
              <a:t>3</a:t>
            </a:r>
            <a:r>
              <a:rPr lang="zh-CN" altLang="en-US" dirty="0"/>
              <a:t>）</a:t>
            </a:r>
          </a:p>
        </p:txBody>
      </p:sp>
      <p:sp>
        <p:nvSpPr>
          <p:cNvPr id="14" name="文本框 13">
            <a:extLst>
              <a:ext uri="{FF2B5EF4-FFF2-40B4-BE49-F238E27FC236}">
                <a16:creationId xmlns:a16="http://schemas.microsoft.com/office/drawing/2014/main" id="{069532DE-90E3-DB0D-3C29-041D5AF0B9B6}"/>
              </a:ext>
            </a:extLst>
          </p:cNvPr>
          <p:cNvSpPr txBox="1"/>
          <p:nvPr/>
        </p:nvSpPr>
        <p:spPr>
          <a:xfrm>
            <a:off x="4509796" y="3060367"/>
            <a:ext cx="7619999" cy="2610971"/>
          </a:xfrm>
          <a:prstGeom prst="rect">
            <a:avLst/>
          </a:prstGeom>
          <a:noFill/>
        </p:spPr>
        <p:txBody>
          <a:bodyPr wrap="square">
            <a:spAutoFit/>
          </a:bodyPr>
          <a:lstStyle/>
          <a:p>
            <a:pPr marL="342900" indent="-342900">
              <a:buFont typeface="+mj-lt"/>
              <a:buAutoNum type="arabicPeriod"/>
            </a:pPr>
            <a:r>
              <a:rPr lang="zh-CN" altLang="en-US" dirty="0"/>
              <a:t>当插入元素 </a:t>
            </a:r>
            <a:r>
              <a:rPr lang="en-US" altLang="zh-CN" dirty="0"/>
              <a:t>22 </a:t>
            </a:r>
            <a:r>
              <a:rPr lang="zh-CN" altLang="en-US" dirty="0"/>
              <a:t>之后</a:t>
            </a:r>
            <a:r>
              <a:rPr lang="en-US" altLang="zh-CN" dirty="0"/>
              <a:t>, Bucket</a:t>
            </a:r>
            <a:r>
              <a:rPr lang="zh-CN" altLang="en-US" dirty="0"/>
              <a:t>的大小为</a:t>
            </a:r>
            <a:r>
              <a:rPr lang="en-US" altLang="zh-CN" dirty="0"/>
              <a:t>4, </a:t>
            </a:r>
            <a:r>
              <a:rPr lang="zh-CN" altLang="en-US" dirty="0"/>
              <a:t>超过</a:t>
            </a:r>
            <a:r>
              <a:rPr lang="en-US" altLang="zh-CN" dirty="0"/>
              <a:t>Bucket</a:t>
            </a:r>
            <a:r>
              <a:rPr lang="zh-CN" altLang="en-US" dirty="0"/>
              <a:t>的大小限制</a:t>
            </a:r>
            <a:r>
              <a:rPr lang="en-US" altLang="zh-CN" dirty="0"/>
              <a:t>,</a:t>
            </a:r>
            <a:r>
              <a:rPr lang="zh-CN" altLang="en-US" dirty="0"/>
              <a:t>尝试插入失败。因为该</a:t>
            </a:r>
            <a:r>
              <a:rPr lang="en-US" altLang="zh-CN" dirty="0"/>
              <a:t>Bucket</a:t>
            </a:r>
            <a:r>
              <a:rPr lang="zh-CN" altLang="en-US" dirty="0"/>
              <a:t>已满，则</a:t>
            </a:r>
            <a:r>
              <a:rPr lang="en-US" altLang="zh-CN" dirty="0"/>
              <a:t>Bucket</a:t>
            </a:r>
            <a:r>
              <a:rPr lang="zh-CN" altLang="en-US" dirty="0"/>
              <a:t>分裂。分裂之后</a:t>
            </a:r>
            <a:r>
              <a:rPr lang="en-US" altLang="zh-CN" dirty="0"/>
              <a:t>, </a:t>
            </a:r>
            <a:r>
              <a:rPr lang="zh-CN" altLang="en-US" dirty="0"/>
              <a:t>两个</a:t>
            </a:r>
            <a:r>
              <a:rPr lang="en-US" altLang="zh-CN" dirty="0"/>
              <a:t>Bucket</a:t>
            </a:r>
            <a:r>
              <a:rPr lang="zh-CN" altLang="en-US" dirty="0"/>
              <a:t>的</a:t>
            </a:r>
            <a:r>
              <a:rPr lang="en-US" altLang="zh-CN" dirty="0"/>
              <a:t>Local Depth</a:t>
            </a:r>
            <a:r>
              <a:rPr lang="zh-CN" altLang="en-US" dirty="0"/>
              <a:t>为</a:t>
            </a:r>
            <a:r>
              <a:rPr lang="en-US" altLang="zh-CN" dirty="0"/>
              <a:t>2, </a:t>
            </a:r>
            <a:r>
              <a:rPr lang="zh-CN" altLang="en-US" dirty="0"/>
              <a:t>大于</a:t>
            </a:r>
            <a:r>
              <a:rPr lang="en-US" altLang="zh-CN" dirty="0"/>
              <a:t>Global Depth, Global Depth</a:t>
            </a:r>
            <a:r>
              <a:rPr lang="zh-CN" altLang="en-US" dirty="0"/>
              <a:t>也需要加一</a:t>
            </a:r>
            <a:r>
              <a:rPr lang="en-US" altLang="zh-CN" dirty="0"/>
              <a:t>, </a:t>
            </a:r>
            <a:r>
              <a:rPr lang="zh-CN" altLang="en-US" dirty="0"/>
              <a:t>变为</a:t>
            </a:r>
            <a:r>
              <a:rPr lang="en-US" altLang="zh-CN" dirty="0"/>
              <a:t>2, </a:t>
            </a:r>
            <a:r>
              <a:rPr lang="zh-CN" altLang="en-US" dirty="0"/>
              <a:t>然后目录</a:t>
            </a:r>
            <a:r>
              <a:rPr lang="en-US" altLang="zh-CN" dirty="0"/>
              <a:t>Directory </a:t>
            </a:r>
            <a:r>
              <a:rPr lang="zh-CN" altLang="en-US" dirty="0"/>
              <a:t>扩充</a:t>
            </a:r>
            <a:r>
              <a:rPr lang="en-US" altLang="zh-CN" dirty="0"/>
              <a:t>, </a:t>
            </a:r>
            <a:r>
              <a:rPr lang="zh-CN" altLang="en-US" dirty="0"/>
              <a:t>变为原来的两倍</a:t>
            </a:r>
            <a:r>
              <a:rPr lang="en-US" altLang="zh-CN" dirty="0"/>
              <a:t>.</a:t>
            </a:r>
          </a:p>
          <a:p>
            <a:pPr marL="342900" indent="-342900">
              <a:buFont typeface="+mj-lt"/>
              <a:buAutoNum type="arabicPeriod"/>
            </a:pPr>
            <a:r>
              <a:rPr lang="zh-CN" altLang="en-US" dirty="0"/>
              <a:t>由于分裂的</a:t>
            </a:r>
            <a:r>
              <a:rPr lang="en-US" altLang="zh-CN" dirty="0"/>
              <a:t>Bucket</a:t>
            </a:r>
            <a:r>
              <a:rPr lang="zh-CN" altLang="en-US" dirty="0"/>
              <a:t>的</a:t>
            </a:r>
            <a:r>
              <a:rPr lang="en-US" altLang="zh-CN" dirty="0"/>
              <a:t>Local Depth</a:t>
            </a:r>
            <a:r>
              <a:rPr lang="zh-CN" altLang="en-US" dirty="0"/>
              <a:t>为</a:t>
            </a:r>
            <a:r>
              <a:rPr lang="en-US" altLang="zh-CN" dirty="0"/>
              <a:t>2, </a:t>
            </a:r>
            <a:r>
              <a:rPr lang="zh-CN" altLang="en-US" dirty="0"/>
              <a:t>所以使用</a:t>
            </a:r>
            <a:r>
              <a:rPr lang="en-US" altLang="zh-CN" dirty="0"/>
              <a:t>Index</a:t>
            </a:r>
            <a:r>
              <a:rPr lang="zh-CN" altLang="en-US" dirty="0"/>
              <a:t>的两位作为索引</a:t>
            </a:r>
            <a:r>
              <a:rPr lang="en-US" altLang="zh-CN" dirty="0"/>
              <a:t>, </a:t>
            </a:r>
            <a:r>
              <a:rPr lang="zh-CN" altLang="en-US" dirty="0"/>
              <a:t>因此</a:t>
            </a:r>
            <a:r>
              <a:rPr lang="en-US" altLang="zh-CN" dirty="0"/>
              <a:t>00</a:t>
            </a:r>
            <a:r>
              <a:rPr lang="zh-CN" altLang="en-US" dirty="0"/>
              <a:t>和</a:t>
            </a:r>
            <a:r>
              <a:rPr lang="en-US" altLang="zh-CN" dirty="0"/>
              <a:t>10</a:t>
            </a:r>
            <a:r>
              <a:rPr lang="zh-CN" altLang="en-US" dirty="0"/>
              <a:t>分别指向分裂的两个</a:t>
            </a:r>
            <a:r>
              <a:rPr lang="en-US" altLang="zh-CN" dirty="0"/>
              <a:t>Bucket, </a:t>
            </a:r>
            <a:r>
              <a:rPr lang="zh-CN" altLang="en-US" dirty="0"/>
              <a:t>分裂之前的</a:t>
            </a:r>
            <a:r>
              <a:rPr lang="en-US" altLang="zh-CN" dirty="0"/>
              <a:t>Bucket</a:t>
            </a:r>
            <a:r>
              <a:rPr lang="zh-CN" altLang="en-US" dirty="0"/>
              <a:t>的</a:t>
            </a:r>
            <a:r>
              <a:rPr lang="en-US" altLang="zh-CN" dirty="0"/>
              <a:t>Index</a:t>
            </a:r>
            <a:r>
              <a:rPr lang="zh-CN" altLang="en-US" dirty="0"/>
              <a:t>为</a:t>
            </a:r>
            <a:r>
              <a:rPr lang="en-US" altLang="zh-CN" dirty="0"/>
              <a:t>0, </a:t>
            </a:r>
            <a:r>
              <a:rPr lang="zh-CN" altLang="en-US" dirty="0"/>
              <a:t>新增一位后就是 </a:t>
            </a:r>
            <a:r>
              <a:rPr lang="en-US" altLang="zh-CN" dirty="0"/>
              <a:t>00 </a:t>
            </a:r>
            <a:r>
              <a:rPr lang="zh-CN" altLang="en-US" dirty="0"/>
              <a:t>和 </a:t>
            </a:r>
            <a:r>
              <a:rPr lang="en-US" altLang="zh-CN" dirty="0"/>
              <a:t>10. </a:t>
            </a:r>
            <a:r>
              <a:rPr lang="zh-CN" altLang="en-US" dirty="0"/>
              <a:t>原来</a:t>
            </a:r>
            <a:r>
              <a:rPr lang="en-US" altLang="zh-CN" dirty="0"/>
              <a:t>Index</a:t>
            </a:r>
            <a:r>
              <a:rPr lang="zh-CN" altLang="en-US" dirty="0"/>
              <a:t>为 </a:t>
            </a:r>
            <a:r>
              <a:rPr lang="en-US" altLang="zh-CN" dirty="0"/>
              <a:t>1</a:t>
            </a:r>
            <a:r>
              <a:rPr lang="zh-CN" altLang="en-US" dirty="0"/>
              <a:t>的</a:t>
            </a:r>
            <a:r>
              <a:rPr lang="en-US" altLang="zh-CN" dirty="0"/>
              <a:t>Bucket</a:t>
            </a:r>
            <a:r>
              <a:rPr lang="zh-CN" altLang="en-US" dirty="0"/>
              <a:t>没有分裂</a:t>
            </a:r>
            <a:r>
              <a:rPr lang="en-US" altLang="zh-CN" dirty="0"/>
              <a:t>, </a:t>
            </a:r>
            <a:r>
              <a:rPr lang="zh-CN" altLang="en-US" dirty="0"/>
              <a:t>它的</a:t>
            </a:r>
            <a:r>
              <a:rPr lang="en-US" altLang="zh-CN" dirty="0"/>
              <a:t>Local Depth</a:t>
            </a:r>
            <a:r>
              <a:rPr lang="zh-CN" altLang="en-US" dirty="0"/>
              <a:t>为</a:t>
            </a:r>
            <a:r>
              <a:rPr lang="en-US" altLang="zh-CN" dirty="0"/>
              <a:t>1, </a:t>
            </a:r>
            <a:r>
              <a:rPr lang="zh-CN" altLang="en-US" dirty="0"/>
              <a:t>所以 </a:t>
            </a:r>
            <a:r>
              <a:rPr lang="en-US" altLang="zh-CN" dirty="0"/>
              <a:t>01 </a:t>
            </a:r>
            <a:r>
              <a:rPr lang="zh-CN" altLang="en-US" dirty="0"/>
              <a:t>和 </a:t>
            </a:r>
            <a:r>
              <a:rPr lang="en-US" altLang="zh-CN" dirty="0"/>
              <a:t>11 </a:t>
            </a:r>
            <a:r>
              <a:rPr lang="zh-CN" altLang="en-US" dirty="0"/>
              <a:t>的</a:t>
            </a:r>
            <a:r>
              <a:rPr lang="en-US" altLang="zh-CN" dirty="0"/>
              <a:t>Index</a:t>
            </a:r>
            <a:r>
              <a:rPr lang="zh-CN" altLang="en-US" dirty="0"/>
              <a:t>均指向该</a:t>
            </a:r>
            <a:r>
              <a:rPr lang="en-US" altLang="zh-CN" dirty="0"/>
              <a:t>Bucket.</a:t>
            </a:r>
          </a:p>
          <a:p>
            <a:pPr algn="l">
              <a:spcBef>
                <a:spcPts val="225"/>
              </a:spcBef>
              <a:spcAft>
                <a:spcPts val="225"/>
              </a:spcAft>
            </a:pPr>
            <a:endParaRPr lang="en-US" altLang="zh-CN" b="0" i="0" dirty="0">
              <a:solidFill>
                <a:srgbClr val="314659"/>
              </a:solidFill>
              <a:effectLst/>
              <a:latin typeface="Lato" panose="020F0502020204030203" pitchFamily="34" charset="0"/>
            </a:endParaRPr>
          </a:p>
        </p:txBody>
      </p:sp>
      <p:pic>
        <p:nvPicPr>
          <p:cNvPr id="16" name="图片 15">
            <a:extLst>
              <a:ext uri="{FF2B5EF4-FFF2-40B4-BE49-F238E27FC236}">
                <a16:creationId xmlns:a16="http://schemas.microsoft.com/office/drawing/2014/main" id="{CAAFDD2B-DB61-715E-2EA9-32D0AE10E191}"/>
              </a:ext>
            </a:extLst>
          </p:cNvPr>
          <p:cNvPicPr>
            <a:picLocks noChangeAspect="1"/>
          </p:cNvPicPr>
          <p:nvPr/>
        </p:nvPicPr>
        <p:blipFill>
          <a:blip r:embed="rId3"/>
          <a:stretch>
            <a:fillRect/>
          </a:stretch>
        </p:blipFill>
        <p:spPr>
          <a:xfrm>
            <a:off x="7308415" y="587046"/>
            <a:ext cx="1869127" cy="1490569"/>
          </a:xfrm>
          <a:prstGeom prst="rect">
            <a:avLst/>
          </a:prstGeom>
        </p:spPr>
      </p:pic>
      <p:pic>
        <p:nvPicPr>
          <p:cNvPr id="18" name="图片 17">
            <a:extLst>
              <a:ext uri="{FF2B5EF4-FFF2-40B4-BE49-F238E27FC236}">
                <a16:creationId xmlns:a16="http://schemas.microsoft.com/office/drawing/2014/main" id="{F3F86975-0984-9040-F479-F06414DD32CD}"/>
              </a:ext>
            </a:extLst>
          </p:cNvPr>
          <p:cNvPicPr>
            <a:picLocks noChangeAspect="1"/>
          </p:cNvPicPr>
          <p:nvPr/>
        </p:nvPicPr>
        <p:blipFill>
          <a:blip r:embed="rId4"/>
          <a:stretch>
            <a:fillRect/>
          </a:stretch>
        </p:blipFill>
        <p:spPr>
          <a:xfrm>
            <a:off x="9628514" y="464584"/>
            <a:ext cx="2126066" cy="1654055"/>
          </a:xfrm>
          <a:prstGeom prst="rect">
            <a:avLst/>
          </a:prstGeom>
        </p:spPr>
      </p:pic>
      <p:sp>
        <p:nvSpPr>
          <p:cNvPr id="19" name="箭头: 右 18">
            <a:extLst>
              <a:ext uri="{FF2B5EF4-FFF2-40B4-BE49-F238E27FC236}">
                <a16:creationId xmlns:a16="http://schemas.microsoft.com/office/drawing/2014/main" id="{AEFA014F-B62C-AF9A-643A-70A9FF4F3B93}"/>
              </a:ext>
            </a:extLst>
          </p:cNvPr>
          <p:cNvSpPr/>
          <p:nvPr/>
        </p:nvSpPr>
        <p:spPr>
          <a:xfrm>
            <a:off x="6857443" y="1236849"/>
            <a:ext cx="35201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B9F0F655-C179-C2CE-2A01-1AC43E076989}"/>
              </a:ext>
            </a:extLst>
          </p:cNvPr>
          <p:cNvSpPr/>
          <p:nvPr/>
        </p:nvSpPr>
        <p:spPr>
          <a:xfrm>
            <a:off x="9255967" y="1282568"/>
            <a:ext cx="29801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图示&#10;&#10;AI 生成的内容可能不正确。">
            <a:extLst>
              <a:ext uri="{FF2B5EF4-FFF2-40B4-BE49-F238E27FC236}">
                <a16:creationId xmlns:a16="http://schemas.microsoft.com/office/drawing/2014/main" id="{43857652-7E14-8A4D-7FAA-2764BC24BB8B}"/>
              </a:ext>
            </a:extLst>
          </p:cNvPr>
          <p:cNvPicPr>
            <a:picLocks noChangeAspect="1"/>
          </p:cNvPicPr>
          <p:nvPr/>
        </p:nvPicPr>
        <p:blipFill>
          <a:blip r:embed="rId5"/>
          <a:stretch>
            <a:fillRect/>
          </a:stretch>
        </p:blipFill>
        <p:spPr>
          <a:xfrm>
            <a:off x="807502" y="0"/>
            <a:ext cx="3348883" cy="6858000"/>
          </a:xfrm>
          <a:prstGeom prst="rect">
            <a:avLst/>
          </a:prstGeom>
        </p:spPr>
      </p:pic>
    </p:spTree>
    <p:extLst>
      <p:ext uri="{BB962C8B-B14F-4D97-AF65-F5344CB8AC3E}">
        <p14:creationId xmlns:p14="http://schemas.microsoft.com/office/powerpoint/2010/main" val="4286771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39F54E0-C9C2-277B-BE95-E0A07438C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860" y="0"/>
            <a:ext cx="5489193" cy="6858000"/>
          </a:xfrm>
          <a:prstGeom prst="rect">
            <a:avLst/>
          </a:prstGeom>
        </p:spPr>
      </p:pic>
      <p:pic>
        <p:nvPicPr>
          <p:cNvPr id="5" name="图片 4">
            <a:extLst>
              <a:ext uri="{FF2B5EF4-FFF2-40B4-BE49-F238E27FC236}">
                <a16:creationId xmlns:a16="http://schemas.microsoft.com/office/drawing/2014/main" id="{2994E3E0-D637-5CDE-18B3-2B2E74C229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666" y="2276670"/>
            <a:ext cx="5604939" cy="2062065"/>
          </a:xfrm>
          <a:prstGeom prst="rect">
            <a:avLst/>
          </a:prstGeom>
        </p:spPr>
      </p:pic>
    </p:spTree>
    <p:extLst>
      <p:ext uri="{BB962C8B-B14F-4D97-AF65-F5344CB8AC3E}">
        <p14:creationId xmlns:p14="http://schemas.microsoft.com/office/powerpoint/2010/main" val="1387642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FE5A332-0A78-1958-44CF-104247EFDBBD}"/>
              </a:ext>
            </a:extLst>
          </p:cNvPr>
          <p:cNvSpPr txBox="1"/>
          <p:nvPr/>
        </p:nvSpPr>
        <p:spPr>
          <a:xfrm>
            <a:off x="2954694" y="2561644"/>
            <a:ext cx="6096000" cy="584775"/>
          </a:xfrm>
          <a:prstGeom prst="rect">
            <a:avLst/>
          </a:prstGeom>
          <a:noFill/>
        </p:spPr>
        <p:txBody>
          <a:bodyPr wrap="square">
            <a:spAutoFit/>
          </a:bodyPr>
          <a:lstStyle/>
          <a:p>
            <a:pPr marL="0" indent="0" algn="ctr">
              <a:buNone/>
            </a:pPr>
            <a:r>
              <a:rPr lang="en-US" altLang="zh-CN" sz="3200" dirty="0"/>
              <a:t>LRU-K</a:t>
            </a:r>
          </a:p>
        </p:txBody>
      </p:sp>
    </p:spTree>
    <p:extLst>
      <p:ext uri="{BB962C8B-B14F-4D97-AF65-F5344CB8AC3E}">
        <p14:creationId xmlns:p14="http://schemas.microsoft.com/office/powerpoint/2010/main" val="4051137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505E2BE-70AA-57BA-B88A-475EEB2C2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8612" y="1679994"/>
            <a:ext cx="7433388" cy="3391842"/>
          </a:xfrm>
          <a:prstGeom prst="rect">
            <a:avLst/>
          </a:prstGeom>
        </p:spPr>
      </p:pic>
      <p:sp>
        <p:nvSpPr>
          <p:cNvPr id="9" name="文本框 8">
            <a:extLst>
              <a:ext uri="{FF2B5EF4-FFF2-40B4-BE49-F238E27FC236}">
                <a16:creationId xmlns:a16="http://schemas.microsoft.com/office/drawing/2014/main" id="{A9412299-97E5-B99A-8ABD-A809E3543062}"/>
              </a:ext>
            </a:extLst>
          </p:cNvPr>
          <p:cNvSpPr txBox="1"/>
          <p:nvPr/>
        </p:nvSpPr>
        <p:spPr>
          <a:xfrm>
            <a:off x="149290" y="372648"/>
            <a:ext cx="6120880" cy="1525354"/>
          </a:xfrm>
          <a:prstGeom prst="rect">
            <a:avLst/>
          </a:prstGeom>
          <a:noFill/>
        </p:spPr>
        <p:txBody>
          <a:bodyPr wrap="square">
            <a:spAutoFit/>
          </a:bodyPr>
          <a:lstStyle/>
          <a:p>
            <a:pPr marL="342900" indent="-342900" algn="l">
              <a:spcBef>
                <a:spcPts val="1200"/>
              </a:spcBef>
              <a:spcAft>
                <a:spcPts val="1200"/>
              </a:spcAft>
              <a:buFont typeface="+mj-lt"/>
              <a:buAutoNum type="arabicPeriod"/>
            </a:pPr>
            <a:r>
              <a:rPr lang="zh-CN" altLang="en-US" b="0" i="0" dirty="0">
                <a:solidFill>
                  <a:srgbClr val="0F1115"/>
                </a:solidFill>
                <a:effectLst/>
                <a:latin typeface="quote-cjk-patch"/>
              </a:rPr>
              <a:t>优先淘汰</a:t>
            </a:r>
            <a:r>
              <a:rPr lang="zh-CN" altLang="en-US" b="1" i="0" dirty="0">
                <a:solidFill>
                  <a:srgbClr val="0F1115"/>
                </a:solidFill>
                <a:effectLst/>
                <a:latin typeface="quote-cjk-patch"/>
              </a:rPr>
              <a:t>未成熟队列</a:t>
            </a:r>
            <a:r>
              <a:rPr lang="zh-CN" altLang="en-US" b="0" i="0" dirty="0">
                <a:solidFill>
                  <a:srgbClr val="0F1115"/>
                </a:solidFill>
                <a:effectLst/>
                <a:latin typeface="quote-cjk-patch"/>
              </a:rPr>
              <a:t>中的帧（访问次数 </a:t>
            </a:r>
            <a:r>
              <a:rPr lang="en-US" altLang="zh-CN" b="0" i="0" dirty="0">
                <a:solidFill>
                  <a:srgbClr val="0F1115"/>
                </a:solidFill>
                <a:effectLst/>
                <a:latin typeface="quote-cjk-patch"/>
              </a:rPr>
              <a:t>&lt; k</a:t>
            </a:r>
            <a:r>
              <a:rPr lang="zh-CN" altLang="en-US" b="0" i="0" dirty="0">
                <a:solidFill>
                  <a:srgbClr val="0F1115"/>
                </a:solidFill>
                <a:effectLst/>
                <a:latin typeface="quote-cjk-patch"/>
              </a:rPr>
              <a:t>）</a:t>
            </a:r>
          </a:p>
          <a:p>
            <a:pPr marL="342900" indent="-342900" algn="l">
              <a:spcBef>
                <a:spcPts val="450"/>
              </a:spcBef>
              <a:spcAft>
                <a:spcPts val="1200"/>
              </a:spcAft>
              <a:buFont typeface="+mj-lt"/>
              <a:buAutoNum type="arabicPeriod"/>
            </a:pPr>
            <a:r>
              <a:rPr lang="zh-CN" altLang="en-US" b="0" i="0" dirty="0">
                <a:solidFill>
                  <a:srgbClr val="0F1115"/>
                </a:solidFill>
                <a:effectLst/>
                <a:latin typeface="quote-cjk-patch"/>
              </a:rPr>
              <a:t>如果未成熟队列为空，则淘汰</a:t>
            </a:r>
            <a:r>
              <a:rPr lang="zh-CN" altLang="en-US" b="1" i="0" dirty="0">
                <a:solidFill>
                  <a:srgbClr val="0F1115"/>
                </a:solidFill>
                <a:effectLst/>
                <a:latin typeface="quote-cjk-patch"/>
              </a:rPr>
              <a:t>成熟队列</a:t>
            </a:r>
            <a:r>
              <a:rPr lang="zh-CN" altLang="en-US" b="0" i="0" dirty="0">
                <a:solidFill>
                  <a:srgbClr val="0F1115"/>
                </a:solidFill>
                <a:effectLst/>
                <a:latin typeface="quote-cjk-patch"/>
              </a:rPr>
              <a:t>中的帧</a:t>
            </a:r>
          </a:p>
          <a:p>
            <a:pPr marL="342900" indent="-342900" algn="l">
              <a:lnSpc>
                <a:spcPts val="1650"/>
              </a:lnSpc>
              <a:spcBef>
                <a:spcPts val="450"/>
              </a:spcBef>
              <a:spcAft>
                <a:spcPts val="1200"/>
              </a:spcAft>
              <a:buFont typeface="+mj-lt"/>
              <a:buAutoNum type="arabicPeriod"/>
            </a:pPr>
            <a:r>
              <a:rPr lang="zh-CN" altLang="en-US" b="0" i="0" dirty="0">
                <a:solidFill>
                  <a:srgbClr val="0F1115"/>
                </a:solidFill>
                <a:effectLst/>
                <a:latin typeface="quote-cjk-patch"/>
              </a:rPr>
              <a:t>由于</a:t>
            </a:r>
            <a:r>
              <a:rPr lang="en-US" altLang="zh-CN" b="0" i="0" dirty="0">
                <a:solidFill>
                  <a:srgbClr val="0F1115"/>
                </a:solidFill>
                <a:effectLst/>
                <a:latin typeface="Menlo"/>
              </a:rPr>
              <a:t>std::set</a:t>
            </a:r>
            <a:r>
              <a:rPr lang="zh-CN" altLang="en-US" b="0" i="0" dirty="0">
                <a:solidFill>
                  <a:srgbClr val="0F1115"/>
                </a:solidFill>
                <a:effectLst/>
                <a:latin typeface="quote-cjk-patch"/>
              </a:rPr>
              <a:t>自动排序，队列第一个元素就是最早访问的帧</a:t>
            </a:r>
          </a:p>
        </p:txBody>
      </p:sp>
      <p:sp>
        <p:nvSpPr>
          <p:cNvPr id="11" name="文本框 10">
            <a:extLst>
              <a:ext uri="{FF2B5EF4-FFF2-40B4-BE49-F238E27FC236}">
                <a16:creationId xmlns:a16="http://schemas.microsoft.com/office/drawing/2014/main" id="{1BE9C7B8-94E5-4CAB-40A3-542534D34F3B}"/>
              </a:ext>
            </a:extLst>
          </p:cNvPr>
          <p:cNvSpPr txBox="1"/>
          <p:nvPr/>
        </p:nvSpPr>
        <p:spPr>
          <a:xfrm>
            <a:off x="0" y="-14207"/>
            <a:ext cx="6096000" cy="384657"/>
          </a:xfrm>
          <a:prstGeom prst="rect">
            <a:avLst/>
          </a:prstGeom>
          <a:noFill/>
        </p:spPr>
        <p:txBody>
          <a:bodyPr wrap="square">
            <a:spAutoFit/>
          </a:bodyPr>
          <a:lstStyle/>
          <a:p>
            <a:pPr algn="l">
              <a:lnSpc>
                <a:spcPts val="2400"/>
              </a:lnSpc>
              <a:spcBef>
                <a:spcPts val="2400"/>
              </a:spcBef>
              <a:spcAft>
                <a:spcPts val="1200"/>
              </a:spcAft>
              <a:buNone/>
            </a:pPr>
            <a:r>
              <a:rPr lang="zh-CN" altLang="en-US" b="1" dirty="0">
                <a:solidFill>
                  <a:srgbClr val="0F1115"/>
                </a:solidFill>
                <a:effectLst/>
                <a:latin typeface="quote-cjk-patch"/>
              </a:rPr>
              <a:t>淘汰</a:t>
            </a:r>
          </a:p>
        </p:txBody>
      </p:sp>
      <p:sp>
        <p:nvSpPr>
          <p:cNvPr id="2" name="文本框 1">
            <a:extLst>
              <a:ext uri="{FF2B5EF4-FFF2-40B4-BE49-F238E27FC236}">
                <a16:creationId xmlns:a16="http://schemas.microsoft.com/office/drawing/2014/main" id="{7746EB8B-CE38-7B9A-631E-B29C749B1ADE}"/>
              </a:ext>
            </a:extLst>
          </p:cNvPr>
          <p:cNvSpPr txBox="1"/>
          <p:nvPr/>
        </p:nvSpPr>
        <p:spPr>
          <a:xfrm>
            <a:off x="286139" y="2239347"/>
            <a:ext cx="3981061" cy="2862322"/>
          </a:xfrm>
          <a:prstGeom prst="rect">
            <a:avLst/>
          </a:prstGeom>
          <a:noFill/>
        </p:spPr>
        <p:txBody>
          <a:bodyPr wrap="square" rtlCol="0">
            <a:spAutoFit/>
          </a:bodyPr>
          <a:lstStyle/>
          <a:p>
            <a:r>
              <a:rPr lang="zh-CN" altLang="en-US" dirty="0"/>
              <a:t>对于同一个</a:t>
            </a:r>
            <a:r>
              <a:rPr lang="zh-CN" altLang="en-US" dirty="0">
                <a:solidFill>
                  <a:srgbClr val="0F1115"/>
                </a:solidFill>
                <a:latin typeface="quote-cjk-patch"/>
              </a:rPr>
              <a:t>帧，它在两个队列中，只会出现一次（当次数</a:t>
            </a:r>
            <a:r>
              <a:rPr lang="en-US" altLang="zh-CN" dirty="0">
                <a:solidFill>
                  <a:srgbClr val="0F1115"/>
                </a:solidFill>
                <a:latin typeface="quote-cjk-patch"/>
              </a:rPr>
              <a:t>&lt;k</a:t>
            </a:r>
            <a:r>
              <a:rPr lang="zh-CN" altLang="en-US" dirty="0">
                <a:solidFill>
                  <a:srgbClr val="0F1115"/>
                </a:solidFill>
                <a:latin typeface="quote-cjk-patch"/>
              </a:rPr>
              <a:t>时，在</a:t>
            </a:r>
            <a:r>
              <a:rPr lang="en-US" altLang="zh-CN" dirty="0" err="1">
                <a:solidFill>
                  <a:srgbClr val="0F1115"/>
                </a:solidFill>
                <a:latin typeface="quote-cjk-patch"/>
              </a:rPr>
              <a:t>lru_premature</a:t>
            </a:r>
            <a:r>
              <a:rPr lang="zh-CN" altLang="en-US" dirty="0">
                <a:solidFill>
                  <a:srgbClr val="0F1115"/>
                </a:solidFill>
                <a:latin typeface="quote-cjk-patch"/>
              </a:rPr>
              <a:t>，次数</a:t>
            </a:r>
            <a:r>
              <a:rPr lang="en-US" altLang="zh-CN" dirty="0">
                <a:solidFill>
                  <a:srgbClr val="0F1115"/>
                </a:solidFill>
                <a:latin typeface="quote-cjk-patch"/>
              </a:rPr>
              <a:t>&gt;k</a:t>
            </a:r>
            <a:r>
              <a:rPr lang="zh-CN" altLang="en-US" dirty="0">
                <a:solidFill>
                  <a:srgbClr val="0F1115"/>
                </a:solidFill>
                <a:latin typeface="quote-cjk-patch"/>
              </a:rPr>
              <a:t>时，在</a:t>
            </a:r>
            <a:r>
              <a:rPr lang="en-US" altLang="zh-CN" dirty="0">
                <a:solidFill>
                  <a:srgbClr val="0F1115"/>
                </a:solidFill>
                <a:latin typeface="quote-cjk-patch"/>
              </a:rPr>
              <a:t>mature</a:t>
            </a:r>
            <a:r>
              <a:rPr lang="zh-CN" altLang="en-US" dirty="0">
                <a:solidFill>
                  <a:srgbClr val="0F1115"/>
                </a:solidFill>
                <a:latin typeface="quote-cjk-patch"/>
              </a:rPr>
              <a:t>中）</a:t>
            </a:r>
            <a:endParaRPr lang="en-US" altLang="zh-CN" dirty="0">
              <a:solidFill>
                <a:srgbClr val="0F1115"/>
              </a:solidFill>
              <a:latin typeface="quote-cjk-patch"/>
            </a:endParaRPr>
          </a:p>
          <a:p>
            <a:endParaRPr lang="en-US" altLang="zh-CN" dirty="0"/>
          </a:p>
          <a:p>
            <a:endParaRPr lang="en-US" altLang="zh-CN" dirty="0"/>
          </a:p>
          <a:p>
            <a:r>
              <a:rPr lang="zh-CN" altLang="en-US" dirty="0"/>
              <a:t>因为一个它的位置是确定且唯一的，所以我的顺序不影响驱逐（无论我先查找哪个队列，如果它存在，一定能找到）。</a:t>
            </a:r>
          </a:p>
        </p:txBody>
      </p:sp>
    </p:spTree>
    <p:extLst>
      <p:ext uri="{BB962C8B-B14F-4D97-AF65-F5344CB8AC3E}">
        <p14:creationId xmlns:p14="http://schemas.microsoft.com/office/powerpoint/2010/main" val="2762791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47F9423B-6025-D519-B5D5-52D2CF46840A}"/>
              </a:ext>
            </a:extLst>
          </p:cNvPr>
          <p:cNvSpPr txBox="1"/>
          <p:nvPr/>
        </p:nvSpPr>
        <p:spPr>
          <a:xfrm>
            <a:off x="-49763" y="90701"/>
            <a:ext cx="6096000" cy="384657"/>
          </a:xfrm>
          <a:prstGeom prst="rect">
            <a:avLst/>
          </a:prstGeom>
          <a:noFill/>
        </p:spPr>
        <p:txBody>
          <a:bodyPr wrap="square">
            <a:spAutoFit/>
          </a:bodyPr>
          <a:lstStyle/>
          <a:p>
            <a:pPr algn="l">
              <a:lnSpc>
                <a:spcPts val="2400"/>
              </a:lnSpc>
              <a:spcBef>
                <a:spcPts val="2400"/>
              </a:spcBef>
              <a:spcAft>
                <a:spcPts val="1200"/>
              </a:spcAft>
              <a:buNone/>
            </a:pPr>
            <a:r>
              <a:rPr lang="zh-CN" altLang="en-US" b="1" dirty="0">
                <a:solidFill>
                  <a:srgbClr val="0F1115"/>
                </a:solidFill>
                <a:effectLst/>
                <a:latin typeface="quote-cjk-patch"/>
              </a:rPr>
              <a:t>记录访问</a:t>
            </a:r>
          </a:p>
        </p:txBody>
      </p:sp>
      <p:sp>
        <p:nvSpPr>
          <p:cNvPr id="9" name="文本框 8">
            <a:extLst>
              <a:ext uri="{FF2B5EF4-FFF2-40B4-BE49-F238E27FC236}">
                <a16:creationId xmlns:a16="http://schemas.microsoft.com/office/drawing/2014/main" id="{6376FBB5-C9B0-8A59-3785-485DA3A11F33}"/>
              </a:ext>
            </a:extLst>
          </p:cNvPr>
          <p:cNvSpPr txBox="1"/>
          <p:nvPr/>
        </p:nvSpPr>
        <p:spPr>
          <a:xfrm>
            <a:off x="80865" y="1711736"/>
            <a:ext cx="3869094" cy="3239348"/>
          </a:xfrm>
          <a:prstGeom prst="rect">
            <a:avLst/>
          </a:prstGeom>
          <a:noFill/>
        </p:spPr>
        <p:txBody>
          <a:bodyPr wrap="square">
            <a:spAutoFit/>
          </a:bodyPr>
          <a:lstStyle/>
          <a:p>
            <a:pPr marL="342900" indent="-342900" algn="l">
              <a:spcBef>
                <a:spcPts val="1200"/>
              </a:spcBef>
              <a:spcAft>
                <a:spcPts val="1200"/>
              </a:spcAft>
              <a:buFont typeface="+mj-lt"/>
              <a:buAutoNum type="arabicPeriod"/>
            </a:pPr>
            <a:r>
              <a:rPr lang="zh-CN" altLang="en-US" b="0" i="0" dirty="0">
                <a:solidFill>
                  <a:srgbClr val="0F1115"/>
                </a:solidFill>
                <a:effectLst/>
                <a:latin typeface="quote-cjk-patch"/>
              </a:rPr>
              <a:t>新帧：创建记录但不加入队列（默认不可驱逐）</a:t>
            </a:r>
          </a:p>
          <a:p>
            <a:pPr marL="342900" indent="-342900" algn="l">
              <a:spcBef>
                <a:spcPts val="450"/>
              </a:spcBef>
              <a:spcAft>
                <a:spcPts val="1200"/>
              </a:spcAft>
              <a:buFont typeface="+mj-lt"/>
              <a:buAutoNum type="arabicPeriod"/>
            </a:pPr>
            <a:r>
              <a:rPr lang="zh-CN" altLang="en-US" b="0" i="0" dirty="0">
                <a:solidFill>
                  <a:srgbClr val="0F1115"/>
                </a:solidFill>
                <a:effectLst/>
                <a:latin typeface="quote-cjk-patch"/>
              </a:rPr>
              <a:t>未成熟帧：访问次数 </a:t>
            </a:r>
            <a:r>
              <a:rPr lang="en-US" altLang="zh-CN" b="0" i="0" dirty="0">
                <a:solidFill>
                  <a:srgbClr val="0F1115"/>
                </a:solidFill>
                <a:effectLst/>
                <a:latin typeface="quote-cjk-patch"/>
              </a:rPr>
              <a:t>&lt; k</a:t>
            </a:r>
            <a:r>
              <a:rPr lang="zh-CN" altLang="en-US" b="0" i="0" dirty="0">
                <a:solidFill>
                  <a:srgbClr val="0F1115"/>
                </a:solidFill>
                <a:effectLst/>
                <a:latin typeface="quote-cjk-patch"/>
              </a:rPr>
              <a:t>，保持在未成熟队列</a:t>
            </a:r>
          </a:p>
          <a:p>
            <a:pPr marL="342900" indent="-342900" algn="l">
              <a:spcBef>
                <a:spcPts val="450"/>
              </a:spcBef>
              <a:spcAft>
                <a:spcPts val="1200"/>
              </a:spcAft>
              <a:buFont typeface="+mj-lt"/>
              <a:buAutoNum type="arabicPeriod"/>
            </a:pPr>
            <a:r>
              <a:rPr lang="zh-CN" altLang="en-US" b="0" i="0" dirty="0">
                <a:solidFill>
                  <a:srgbClr val="0F1115"/>
                </a:solidFill>
                <a:effectLst/>
                <a:latin typeface="quote-cjk-patch"/>
              </a:rPr>
              <a:t>关键状态：当访问次数从 </a:t>
            </a:r>
            <a:r>
              <a:rPr lang="en-US" altLang="zh-CN" b="0" i="0" dirty="0">
                <a:solidFill>
                  <a:srgbClr val="0F1115"/>
                </a:solidFill>
                <a:effectLst/>
                <a:latin typeface="quote-cjk-patch"/>
              </a:rPr>
              <a:t>k-1 → k </a:t>
            </a:r>
            <a:r>
              <a:rPr lang="zh-CN" altLang="en-US" b="0" i="0" dirty="0">
                <a:solidFill>
                  <a:srgbClr val="0F1115"/>
                </a:solidFill>
                <a:effectLst/>
                <a:latin typeface="quote-cjk-patch"/>
              </a:rPr>
              <a:t>时，从未成熟队列移动到成熟队列</a:t>
            </a:r>
          </a:p>
          <a:p>
            <a:pPr marL="342900" indent="-342900" algn="l">
              <a:spcBef>
                <a:spcPts val="450"/>
              </a:spcBef>
              <a:spcAft>
                <a:spcPts val="1200"/>
              </a:spcAft>
              <a:buFont typeface="+mj-lt"/>
              <a:buAutoNum type="arabicPeriod"/>
            </a:pPr>
            <a:r>
              <a:rPr lang="zh-CN" altLang="en-US" b="0" i="0" dirty="0">
                <a:solidFill>
                  <a:srgbClr val="0F1115"/>
                </a:solidFill>
                <a:effectLst/>
                <a:latin typeface="quote-cjk-patch"/>
              </a:rPr>
              <a:t>成熟帧：每次访问后先移除再重新插入，以更新排序位置</a:t>
            </a:r>
          </a:p>
        </p:txBody>
      </p:sp>
      <p:pic>
        <p:nvPicPr>
          <p:cNvPr id="11" name="图片 10">
            <a:extLst>
              <a:ext uri="{FF2B5EF4-FFF2-40B4-BE49-F238E27FC236}">
                <a16:creationId xmlns:a16="http://schemas.microsoft.com/office/drawing/2014/main" id="{0F61BA47-331A-4F6F-A492-5024D61CA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5706" y="0"/>
            <a:ext cx="8136294" cy="6858000"/>
          </a:xfrm>
          <a:prstGeom prst="rect">
            <a:avLst/>
          </a:prstGeom>
        </p:spPr>
      </p:pic>
    </p:spTree>
    <p:extLst>
      <p:ext uri="{BB962C8B-B14F-4D97-AF65-F5344CB8AC3E}">
        <p14:creationId xmlns:p14="http://schemas.microsoft.com/office/powerpoint/2010/main" val="2789200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C5DFB98-727C-E7C9-FF72-3674C3C64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8708" y="0"/>
            <a:ext cx="7323292" cy="6858000"/>
          </a:xfrm>
          <a:prstGeom prst="rect">
            <a:avLst/>
          </a:prstGeom>
        </p:spPr>
      </p:pic>
      <p:sp>
        <p:nvSpPr>
          <p:cNvPr id="7" name="文本框 6">
            <a:extLst>
              <a:ext uri="{FF2B5EF4-FFF2-40B4-BE49-F238E27FC236}">
                <a16:creationId xmlns:a16="http://schemas.microsoft.com/office/drawing/2014/main" id="{0289F3FC-9528-8D35-1BBA-B5630F86B8C2}"/>
              </a:ext>
            </a:extLst>
          </p:cNvPr>
          <p:cNvSpPr txBox="1"/>
          <p:nvPr/>
        </p:nvSpPr>
        <p:spPr>
          <a:xfrm>
            <a:off x="87086" y="2127235"/>
            <a:ext cx="3620277" cy="2072362"/>
          </a:xfrm>
          <a:prstGeom prst="rect">
            <a:avLst/>
          </a:prstGeom>
          <a:noFill/>
        </p:spPr>
        <p:txBody>
          <a:bodyPr wrap="square">
            <a:spAutoFit/>
          </a:bodyPr>
          <a:lstStyle/>
          <a:p>
            <a:pPr marL="342900" indent="-342900" algn="l">
              <a:spcBef>
                <a:spcPts val="1200"/>
              </a:spcBef>
              <a:spcAft>
                <a:spcPts val="1200"/>
              </a:spcAft>
              <a:buFont typeface="+mj-lt"/>
              <a:buAutoNum type="arabicPeriod"/>
            </a:pPr>
            <a:r>
              <a:rPr lang="zh-CN" altLang="en-US" b="0" i="0" dirty="0">
                <a:solidFill>
                  <a:srgbClr val="0F1115"/>
                </a:solidFill>
                <a:effectLst/>
                <a:latin typeface="quote-cjk-patch"/>
              </a:rPr>
              <a:t>只有可驱逐的帧才会被放入队列</a:t>
            </a:r>
          </a:p>
          <a:p>
            <a:pPr marL="342900" indent="-342900" algn="l">
              <a:lnSpc>
                <a:spcPts val="1650"/>
              </a:lnSpc>
              <a:spcBef>
                <a:spcPts val="450"/>
              </a:spcBef>
              <a:spcAft>
                <a:spcPts val="1200"/>
              </a:spcAft>
              <a:buFont typeface="+mj-lt"/>
              <a:buAutoNum type="arabicPeriod"/>
            </a:pPr>
            <a:r>
              <a:rPr lang="zh-CN" altLang="en-US" b="0" i="0" dirty="0">
                <a:solidFill>
                  <a:srgbClr val="0F1115"/>
                </a:solidFill>
                <a:effectLst/>
                <a:latin typeface="quote-cjk-patch"/>
              </a:rPr>
              <a:t>状态改变时更新</a:t>
            </a:r>
            <a:r>
              <a:rPr lang="en-US" altLang="zh-CN" b="0" i="0" dirty="0" err="1">
                <a:solidFill>
                  <a:srgbClr val="0F1115"/>
                </a:solidFill>
                <a:effectLst/>
                <a:latin typeface="Menlo"/>
              </a:rPr>
              <a:t>replacer_size</a:t>
            </a:r>
            <a:r>
              <a:rPr lang="en-US" altLang="zh-CN" b="0" i="0" dirty="0">
                <a:solidFill>
                  <a:srgbClr val="0F1115"/>
                </a:solidFill>
                <a:effectLst/>
                <a:latin typeface="Menlo"/>
              </a:rPr>
              <a:t>_</a:t>
            </a:r>
            <a:r>
              <a:rPr lang="zh-CN" altLang="en-US" b="0" i="0" dirty="0">
                <a:solidFill>
                  <a:srgbClr val="0F1115"/>
                </a:solidFill>
                <a:effectLst/>
                <a:latin typeface="quote-cjk-patch"/>
              </a:rPr>
              <a:t>计数</a:t>
            </a:r>
          </a:p>
          <a:p>
            <a:pPr marL="342900" indent="-342900" algn="l">
              <a:spcBef>
                <a:spcPts val="450"/>
              </a:spcBef>
              <a:spcAft>
                <a:spcPts val="1200"/>
              </a:spcAft>
              <a:buFont typeface="+mj-lt"/>
              <a:buAutoNum type="arabicPeriod"/>
            </a:pPr>
            <a:r>
              <a:rPr lang="zh-CN" altLang="en-US" b="0" i="0" dirty="0">
                <a:solidFill>
                  <a:srgbClr val="0F1115"/>
                </a:solidFill>
                <a:effectLst/>
                <a:latin typeface="quote-cjk-patch"/>
              </a:rPr>
              <a:t>根据访问次数决定放入哪个队列</a:t>
            </a:r>
          </a:p>
        </p:txBody>
      </p:sp>
      <p:sp>
        <p:nvSpPr>
          <p:cNvPr id="9" name="文本框 8">
            <a:extLst>
              <a:ext uri="{FF2B5EF4-FFF2-40B4-BE49-F238E27FC236}">
                <a16:creationId xmlns:a16="http://schemas.microsoft.com/office/drawing/2014/main" id="{FA322295-8CDC-99D3-82DF-6985408F9AAF}"/>
              </a:ext>
            </a:extLst>
          </p:cNvPr>
          <p:cNvSpPr txBox="1"/>
          <p:nvPr/>
        </p:nvSpPr>
        <p:spPr>
          <a:xfrm>
            <a:off x="0" y="0"/>
            <a:ext cx="6096000" cy="384657"/>
          </a:xfrm>
          <a:prstGeom prst="rect">
            <a:avLst/>
          </a:prstGeom>
          <a:noFill/>
        </p:spPr>
        <p:txBody>
          <a:bodyPr wrap="square">
            <a:spAutoFit/>
          </a:bodyPr>
          <a:lstStyle/>
          <a:p>
            <a:pPr algn="l">
              <a:lnSpc>
                <a:spcPts val="2400"/>
              </a:lnSpc>
              <a:spcBef>
                <a:spcPts val="2400"/>
              </a:spcBef>
              <a:spcAft>
                <a:spcPts val="1200"/>
              </a:spcAft>
              <a:buNone/>
            </a:pPr>
            <a:r>
              <a:rPr lang="zh-CN" altLang="en-US" b="1" dirty="0">
                <a:solidFill>
                  <a:srgbClr val="0F1115"/>
                </a:solidFill>
                <a:effectLst/>
                <a:latin typeface="quote-cjk-patch"/>
              </a:rPr>
              <a:t>可驱逐状态管理</a:t>
            </a:r>
          </a:p>
        </p:txBody>
      </p:sp>
    </p:spTree>
    <p:extLst>
      <p:ext uri="{BB962C8B-B14F-4D97-AF65-F5344CB8AC3E}">
        <p14:creationId xmlns:p14="http://schemas.microsoft.com/office/powerpoint/2010/main" val="2293479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0C6AA6-EA60-5691-CCAB-C27FD79C0147}"/>
              </a:ext>
            </a:extLst>
          </p:cNvPr>
          <p:cNvSpPr txBox="1"/>
          <p:nvPr/>
        </p:nvSpPr>
        <p:spPr>
          <a:xfrm>
            <a:off x="2954694" y="2561644"/>
            <a:ext cx="6096000" cy="584775"/>
          </a:xfrm>
          <a:prstGeom prst="rect">
            <a:avLst/>
          </a:prstGeom>
          <a:noFill/>
        </p:spPr>
        <p:txBody>
          <a:bodyPr wrap="square">
            <a:spAutoFit/>
          </a:bodyPr>
          <a:lstStyle/>
          <a:p>
            <a:pPr algn="ctr"/>
            <a:r>
              <a:rPr lang="zh-CN" altLang="en-US" sz="3200" dirty="0"/>
              <a:t>缓冲池管理</a:t>
            </a:r>
            <a:endParaRPr lang="en-US" altLang="zh-CN" sz="3200" dirty="0"/>
          </a:p>
        </p:txBody>
      </p:sp>
    </p:spTree>
    <p:extLst>
      <p:ext uri="{BB962C8B-B14F-4D97-AF65-F5344CB8AC3E}">
        <p14:creationId xmlns:p14="http://schemas.microsoft.com/office/powerpoint/2010/main" val="6993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B115FB4-CD30-D50D-F589-7B8D82311460}"/>
              </a:ext>
            </a:extLst>
          </p:cNvPr>
          <p:cNvSpPr txBox="1"/>
          <p:nvPr/>
        </p:nvSpPr>
        <p:spPr>
          <a:xfrm>
            <a:off x="0" y="0"/>
            <a:ext cx="6096000" cy="375039"/>
          </a:xfrm>
          <a:prstGeom prst="rect">
            <a:avLst/>
          </a:prstGeom>
          <a:noFill/>
        </p:spPr>
        <p:txBody>
          <a:bodyPr wrap="square">
            <a:spAutoFit/>
          </a:bodyPr>
          <a:lstStyle/>
          <a:p>
            <a:pPr algn="l">
              <a:lnSpc>
                <a:spcPts val="2250"/>
              </a:lnSpc>
              <a:spcBef>
                <a:spcPts val="2400"/>
              </a:spcBef>
              <a:spcAft>
                <a:spcPts val="1200"/>
              </a:spcAft>
              <a:buNone/>
            </a:pPr>
            <a:r>
              <a:rPr lang="zh-CN" altLang="en-US" b="1" dirty="0">
                <a:solidFill>
                  <a:srgbClr val="0F1115"/>
                </a:solidFill>
                <a:effectLst/>
                <a:latin typeface="quote-cjk-patch"/>
              </a:rPr>
              <a:t>创建新页面</a:t>
            </a:r>
          </a:p>
        </p:txBody>
      </p:sp>
      <p:sp>
        <p:nvSpPr>
          <p:cNvPr id="7" name="文本框 6">
            <a:extLst>
              <a:ext uri="{FF2B5EF4-FFF2-40B4-BE49-F238E27FC236}">
                <a16:creationId xmlns:a16="http://schemas.microsoft.com/office/drawing/2014/main" id="{4A261733-B76B-480D-E0BF-E94A79C60624}"/>
              </a:ext>
            </a:extLst>
          </p:cNvPr>
          <p:cNvSpPr txBox="1"/>
          <p:nvPr/>
        </p:nvSpPr>
        <p:spPr>
          <a:xfrm>
            <a:off x="0" y="742367"/>
            <a:ext cx="4497355" cy="6027291"/>
          </a:xfrm>
          <a:prstGeom prst="rect">
            <a:avLst/>
          </a:prstGeom>
          <a:noFill/>
        </p:spPr>
        <p:txBody>
          <a:bodyPr wrap="square">
            <a:spAutoFit/>
          </a:bodyPr>
          <a:lstStyle/>
          <a:p>
            <a:pPr algn="l">
              <a:lnSpc>
                <a:spcPts val="1650"/>
              </a:lnSpc>
              <a:spcBef>
                <a:spcPts val="1200"/>
              </a:spcBef>
              <a:spcAft>
                <a:spcPts val="1200"/>
              </a:spcAft>
              <a:buFont typeface="+mj-lt"/>
              <a:buAutoNum type="arabicPeriod"/>
            </a:pPr>
            <a:r>
              <a:rPr lang="zh-CN" altLang="en-US" b="1" i="0" dirty="0">
                <a:solidFill>
                  <a:srgbClr val="0F1115"/>
                </a:solidFill>
                <a:effectLst/>
                <a:latin typeface="quote-cjk-patch"/>
              </a:rPr>
              <a:t>查找可用帧</a:t>
            </a:r>
            <a:r>
              <a:rPr lang="zh-CN" altLang="en-US" b="0" i="0" dirty="0">
                <a:solidFill>
                  <a:srgbClr val="0F1115"/>
                </a:solidFill>
                <a:effectLst/>
                <a:latin typeface="quote-cjk-patch"/>
              </a:rPr>
              <a:t>：调用</a:t>
            </a:r>
            <a:r>
              <a:rPr lang="en-US" altLang="zh-CN" b="0" i="0" dirty="0" err="1">
                <a:solidFill>
                  <a:srgbClr val="0F1115"/>
                </a:solidFill>
                <a:effectLst/>
                <a:latin typeface="Menlo"/>
              </a:rPr>
              <a:t>FindVictim</a:t>
            </a:r>
            <a:r>
              <a:rPr lang="en-US" altLang="zh-CN" b="0" i="0" dirty="0">
                <a:solidFill>
                  <a:srgbClr val="0F1115"/>
                </a:solidFill>
                <a:effectLst/>
                <a:latin typeface="Menlo"/>
              </a:rPr>
              <a:t>()</a:t>
            </a:r>
            <a:r>
              <a:rPr lang="zh-CN" altLang="en-US" b="0" i="0" dirty="0">
                <a:solidFill>
                  <a:srgbClr val="0F1115"/>
                </a:solidFill>
                <a:effectLst/>
                <a:latin typeface="quote-cjk-patch"/>
              </a:rPr>
              <a:t>获取空闲帧或驱逐一个帧</a:t>
            </a:r>
          </a:p>
          <a:p>
            <a:pPr algn="l">
              <a:lnSpc>
                <a:spcPts val="1650"/>
              </a:lnSpc>
              <a:spcBef>
                <a:spcPts val="450"/>
              </a:spcBef>
              <a:spcAft>
                <a:spcPts val="1200"/>
              </a:spcAft>
              <a:buFont typeface="+mj-lt"/>
              <a:buAutoNum type="arabicPeriod"/>
            </a:pPr>
            <a:r>
              <a:rPr lang="zh-CN" altLang="en-US" b="1" i="0" dirty="0">
                <a:solidFill>
                  <a:srgbClr val="0F1115"/>
                </a:solidFill>
                <a:effectLst/>
                <a:latin typeface="quote-cjk-patch"/>
              </a:rPr>
              <a:t>分配页面</a:t>
            </a:r>
            <a:r>
              <a:rPr lang="en-US" altLang="zh-CN" b="1" i="0" dirty="0">
                <a:solidFill>
                  <a:srgbClr val="0F1115"/>
                </a:solidFill>
                <a:effectLst/>
                <a:latin typeface="quote-cjk-patch"/>
              </a:rPr>
              <a:t>ID</a:t>
            </a:r>
            <a:r>
              <a:rPr lang="zh-CN" altLang="en-US" b="0" i="0" dirty="0">
                <a:solidFill>
                  <a:srgbClr val="0F1115"/>
                </a:solidFill>
                <a:effectLst/>
                <a:latin typeface="quote-cjk-patch"/>
              </a:rPr>
              <a:t>：使用</a:t>
            </a:r>
            <a:r>
              <a:rPr lang="en-US" altLang="zh-CN" b="0" i="0" dirty="0" err="1">
                <a:solidFill>
                  <a:srgbClr val="0F1115"/>
                </a:solidFill>
                <a:effectLst/>
                <a:latin typeface="Menlo"/>
              </a:rPr>
              <a:t>AllocatePage</a:t>
            </a:r>
            <a:r>
              <a:rPr lang="en-US" altLang="zh-CN" b="0" i="0" dirty="0">
                <a:solidFill>
                  <a:srgbClr val="0F1115"/>
                </a:solidFill>
                <a:effectLst/>
                <a:latin typeface="Menlo"/>
              </a:rPr>
              <a:t>()</a:t>
            </a:r>
            <a:r>
              <a:rPr lang="zh-CN" altLang="en-US" b="0" i="0" dirty="0">
                <a:solidFill>
                  <a:srgbClr val="0F1115"/>
                </a:solidFill>
                <a:effectLst/>
                <a:latin typeface="quote-cjk-patch"/>
              </a:rPr>
              <a:t>生成新的页面</a:t>
            </a:r>
            <a:r>
              <a:rPr lang="en-US" altLang="zh-CN" b="0" i="0" dirty="0">
                <a:solidFill>
                  <a:srgbClr val="0F1115"/>
                </a:solidFill>
                <a:effectLst/>
                <a:latin typeface="quote-cjk-patch"/>
              </a:rPr>
              <a:t>ID</a:t>
            </a:r>
          </a:p>
          <a:p>
            <a:pPr algn="l">
              <a:spcBef>
                <a:spcPts val="450"/>
              </a:spcBef>
              <a:spcAft>
                <a:spcPts val="600"/>
              </a:spcAft>
              <a:buFont typeface="+mj-lt"/>
              <a:buAutoNum type="arabicPeriod"/>
            </a:pPr>
            <a:r>
              <a:rPr lang="zh-CN" altLang="en-US" b="1" i="0" dirty="0">
                <a:solidFill>
                  <a:srgbClr val="0F1115"/>
                </a:solidFill>
                <a:effectLst/>
                <a:latin typeface="quote-cjk-patch"/>
              </a:rPr>
              <a:t>重置页面元数据</a:t>
            </a:r>
            <a:r>
              <a:rPr lang="zh-CN" altLang="en-US" b="0" i="0" dirty="0">
                <a:solidFill>
                  <a:srgbClr val="0F1115"/>
                </a:solidFill>
                <a:effectLst/>
                <a:latin typeface="quote-cjk-patch"/>
              </a:rPr>
              <a:t>：</a:t>
            </a:r>
          </a:p>
          <a:p>
            <a:pPr marL="742950" lvl="1" indent="-285750" algn="l">
              <a:spcBef>
                <a:spcPts val="300"/>
              </a:spcBef>
              <a:spcAft>
                <a:spcPts val="1200"/>
              </a:spcAft>
              <a:buFont typeface="+mj-lt"/>
              <a:buAutoNum type="arabicPeriod"/>
            </a:pPr>
            <a:r>
              <a:rPr lang="zh-CN" altLang="en-US" b="0" i="0" dirty="0">
                <a:solidFill>
                  <a:srgbClr val="0F1115"/>
                </a:solidFill>
                <a:effectLst/>
                <a:latin typeface="quote-cjk-patch"/>
              </a:rPr>
              <a:t>清空页面数据（</a:t>
            </a:r>
            <a:r>
              <a:rPr lang="en-US" altLang="zh-CN" b="0" i="0" dirty="0" err="1">
                <a:solidFill>
                  <a:srgbClr val="0F1115"/>
                </a:solidFill>
                <a:effectLst/>
                <a:latin typeface="quote-cjk-patch"/>
              </a:rPr>
              <a:t>ResetMemory</a:t>
            </a:r>
            <a:r>
              <a:rPr lang="zh-CN" altLang="en-US" b="0" i="0" dirty="0">
                <a:solidFill>
                  <a:srgbClr val="0F1115"/>
                </a:solidFill>
                <a:effectLst/>
                <a:latin typeface="quote-cjk-patch"/>
              </a:rPr>
              <a:t>）</a:t>
            </a:r>
          </a:p>
          <a:p>
            <a:pPr marL="742950" lvl="1" indent="-285750" algn="l">
              <a:spcBef>
                <a:spcPts val="450"/>
              </a:spcBef>
              <a:spcAft>
                <a:spcPts val="1200"/>
              </a:spcAft>
              <a:buFont typeface="+mj-lt"/>
              <a:buAutoNum type="arabicPeriod"/>
            </a:pPr>
            <a:r>
              <a:rPr lang="zh-CN" altLang="en-US" b="0" i="0" dirty="0">
                <a:solidFill>
                  <a:srgbClr val="0F1115"/>
                </a:solidFill>
                <a:effectLst/>
                <a:latin typeface="quote-cjk-patch"/>
              </a:rPr>
              <a:t>设置新的</a:t>
            </a:r>
            <a:r>
              <a:rPr lang="en-US" altLang="zh-CN" b="0" i="0" dirty="0" err="1">
                <a:solidFill>
                  <a:srgbClr val="0F1115"/>
                </a:solidFill>
                <a:effectLst/>
                <a:latin typeface="quote-cjk-patch"/>
              </a:rPr>
              <a:t>page_id</a:t>
            </a:r>
            <a:endParaRPr lang="en-US" altLang="zh-CN" b="0" i="0" dirty="0">
              <a:solidFill>
                <a:srgbClr val="0F1115"/>
              </a:solidFill>
              <a:effectLst/>
              <a:latin typeface="quote-cjk-patch"/>
            </a:endParaRPr>
          </a:p>
          <a:p>
            <a:pPr marL="742950" lvl="1" indent="-285750" algn="l">
              <a:spcBef>
                <a:spcPts val="450"/>
              </a:spcBef>
              <a:spcAft>
                <a:spcPts val="1200"/>
              </a:spcAft>
              <a:buFont typeface="+mj-lt"/>
              <a:buAutoNum type="arabicPeriod"/>
            </a:pPr>
            <a:r>
              <a:rPr lang="en-US" altLang="zh-CN" b="0" i="0" dirty="0" err="1">
                <a:solidFill>
                  <a:srgbClr val="0F1115"/>
                </a:solidFill>
                <a:effectLst/>
                <a:latin typeface="quote-cjk-patch"/>
              </a:rPr>
              <a:t>pin_count</a:t>
            </a:r>
            <a:r>
              <a:rPr lang="zh-CN" altLang="en-US" b="0" i="0" dirty="0">
                <a:solidFill>
                  <a:srgbClr val="0F1115"/>
                </a:solidFill>
                <a:effectLst/>
                <a:latin typeface="quote-cjk-patch"/>
              </a:rPr>
              <a:t>设置为</a:t>
            </a:r>
            <a:r>
              <a:rPr lang="en-US" altLang="zh-CN" b="0" i="0" dirty="0">
                <a:solidFill>
                  <a:srgbClr val="0F1115"/>
                </a:solidFill>
                <a:effectLst/>
                <a:latin typeface="quote-cjk-patch"/>
              </a:rPr>
              <a:t>1</a:t>
            </a:r>
            <a:r>
              <a:rPr lang="zh-CN" altLang="en-US" b="0" i="0" dirty="0">
                <a:solidFill>
                  <a:srgbClr val="0F1115"/>
                </a:solidFill>
                <a:effectLst/>
                <a:latin typeface="quote-cjk-patch"/>
              </a:rPr>
              <a:t>（新页面被固定）</a:t>
            </a:r>
          </a:p>
          <a:p>
            <a:pPr marL="742950" lvl="1" indent="-285750" algn="l">
              <a:spcBef>
                <a:spcPts val="450"/>
              </a:spcBef>
              <a:spcAft>
                <a:spcPts val="1200"/>
              </a:spcAft>
              <a:buFont typeface="+mj-lt"/>
              <a:buAutoNum type="arabicPeriod"/>
            </a:pPr>
            <a:r>
              <a:rPr lang="en-US" altLang="zh-CN" b="0" i="0" dirty="0" err="1">
                <a:solidFill>
                  <a:srgbClr val="0F1115"/>
                </a:solidFill>
                <a:effectLst/>
                <a:latin typeface="quote-cjk-patch"/>
              </a:rPr>
              <a:t>is_dirty</a:t>
            </a:r>
            <a:r>
              <a:rPr lang="zh-CN" altLang="en-US" b="0" i="0" dirty="0">
                <a:solidFill>
                  <a:srgbClr val="0F1115"/>
                </a:solidFill>
                <a:effectLst/>
                <a:latin typeface="quote-cjk-patch"/>
              </a:rPr>
              <a:t>设置为</a:t>
            </a:r>
            <a:r>
              <a:rPr lang="en-US" altLang="zh-CN" b="0" i="0" dirty="0">
                <a:solidFill>
                  <a:srgbClr val="0F1115"/>
                </a:solidFill>
                <a:effectLst/>
                <a:latin typeface="quote-cjk-patch"/>
              </a:rPr>
              <a:t>false</a:t>
            </a:r>
          </a:p>
          <a:p>
            <a:pPr algn="l">
              <a:spcBef>
                <a:spcPts val="450"/>
              </a:spcBef>
              <a:spcAft>
                <a:spcPts val="600"/>
              </a:spcAft>
              <a:buFont typeface="+mj-lt"/>
              <a:buAutoNum type="arabicPeriod"/>
            </a:pPr>
            <a:r>
              <a:rPr lang="zh-CN" altLang="en-US" b="1" i="0" dirty="0">
                <a:solidFill>
                  <a:srgbClr val="0F1115"/>
                </a:solidFill>
                <a:effectLst/>
                <a:latin typeface="quote-cjk-patch"/>
              </a:rPr>
              <a:t>更新替换器</a:t>
            </a:r>
            <a:r>
              <a:rPr lang="zh-CN" altLang="en-US" b="0" i="0" dirty="0">
                <a:solidFill>
                  <a:srgbClr val="0F1115"/>
                </a:solidFill>
                <a:effectLst/>
                <a:latin typeface="quote-cjk-patch"/>
              </a:rPr>
              <a:t>：</a:t>
            </a:r>
          </a:p>
          <a:p>
            <a:pPr marL="742950" lvl="1" indent="-285750" algn="l">
              <a:lnSpc>
                <a:spcPts val="1650"/>
              </a:lnSpc>
              <a:spcBef>
                <a:spcPts val="300"/>
              </a:spcBef>
              <a:spcAft>
                <a:spcPts val="1200"/>
              </a:spcAft>
              <a:buFont typeface="+mj-lt"/>
              <a:buAutoNum type="arabicPeriod"/>
            </a:pPr>
            <a:r>
              <a:rPr lang="en-US" altLang="zh-CN" b="0" i="0" dirty="0" err="1">
                <a:solidFill>
                  <a:srgbClr val="0F1115"/>
                </a:solidFill>
                <a:effectLst/>
                <a:latin typeface="Menlo"/>
              </a:rPr>
              <a:t>RecordAccess</a:t>
            </a:r>
            <a:r>
              <a:rPr lang="en-US" altLang="zh-CN" b="0" i="0" dirty="0">
                <a:solidFill>
                  <a:srgbClr val="0F1115"/>
                </a:solidFill>
                <a:effectLst/>
                <a:latin typeface="Menlo"/>
              </a:rPr>
              <a:t>()</a:t>
            </a:r>
            <a:r>
              <a:rPr lang="zh-CN" altLang="en-US" b="0" i="0" dirty="0">
                <a:solidFill>
                  <a:srgbClr val="0F1115"/>
                </a:solidFill>
                <a:effectLst/>
                <a:latin typeface="quote-cjk-patch"/>
              </a:rPr>
              <a:t>：记录访问</a:t>
            </a:r>
          </a:p>
          <a:p>
            <a:pPr marL="742950" lvl="1" indent="-285750" algn="l">
              <a:lnSpc>
                <a:spcPts val="1650"/>
              </a:lnSpc>
              <a:spcBef>
                <a:spcPts val="450"/>
              </a:spcBef>
              <a:spcAft>
                <a:spcPts val="1200"/>
              </a:spcAft>
              <a:buFont typeface="+mj-lt"/>
              <a:buAutoNum type="arabicPeriod"/>
            </a:pPr>
            <a:r>
              <a:rPr lang="en-US" altLang="zh-CN" b="0" i="0" dirty="0" err="1">
                <a:solidFill>
                  <a:srgbClr val="0F1115"/>
                </a:solidFill>
                <a:effectLst/>
                <a:latin typeface="Menlo"/>
              </a:rPr>
              <a:t>SetEvictable</a:t>
            </a:r>
            <a:r>
              <a:rPr lang="en-US" altLang="zh-CN" b="0" i="0" dirty="0">
                <a:solidFill>
                  <a:srgbClr val="0F1115"/>
                </a:solidFill>
                <a:effectLst/>
                <a:latin typeface="Menlo"/>
              </a:rPr>
              <a:t>(false)</a:t>
            </a:r>
            <a:r>
              <a:rPr lang="zh-CN" altLang="en-US" b="0" i="0" dirty="0">
                <a:solidFill>
                  <a:srgbClr val="0F1115"/>
                </a:solidFill>
                <a:effectLst/>
                <a:latin typeface="quote-cjk-patch"/>
              </a:rPr>
              <a:t>：标记为不可驱逐（因为被固定）</a:t>
            </a:r>
          </a:p>
          <a:p>
            <a:pPr algn="l">
              <a:spcBef>
                <a:spcPts val="450"/>
              </a:spcBef>
              <a:spcAft>
                <a:spcPts val="1200"/>
              </a:spcAft>
              <a:buFont typeface="+mj-lt"/>
              <a:buAutoNum type="arabicPeriod"/>
            </a:pPr>
            <a:r>
              <a:rPr lang="zh-CN" altLang="en-US" b="1" i="0" dirty="0">
                <a:solidFill>
                  <a:srgbClr val="0F1115"/>
                </a:solidFill>
                <a:effectLst/>
                <a:latin typeface="quote-cjk-patch"/>
              </a:rPr>
              <a:t>更新页表</a:t>
            </a:r>
            <a:r>
              <a:rPr lang="zh-CN" altLang="en-US" b="0" i="0" dirty="0">
                <a:solidFill>
                  <a:srgbClr val="0F1115"/>
                </a:solidFill>
                <a:effectLst/>
                <a:latin typeface="quote-cjk-patch"/>
              </a:rPr>
              <a:t>：插入</a:t>
            </a:r>
            <a:r>
              <a:rPr lang="en-US" altLang="zh-CN" b="0" i="0" dirty="0" err="1">
                <a:solidFill>
                  <a:srgbClr val="0F1115"/>
                </a:solidFill>
                <a:effectLst/>
                <a:latin typeface="quote-cjk-patch"/>
              </a:rPr>
              <a:t>page_id</a:t>
            </a:r>
            <a:r>
              <a:rPr lang="zh-CN" altLang="en-US" b="0" i="0" dirty="0">
                <a:solidFill>
                  <a:srgbClr val="0F1115"/>
                </a:solidFill>
                <a:effectLst/>
                <a:latin typeface="quote-cjk-patch"/>
              </a:rPr>
              <a:t>到</a:t>
            </a:r>
            <a:r>
              <a:rPr lang="en-US" altLang="zh-CN" b="0" i="0" dirty="0" err="1">
                <a:solidFill>
                  <a:srgbClr val="0F1115"/>
                </a:solidFill>
                <a:effectLst/>
                <a:latin typeface="quote-cjk-patch"/>
              </a:rPr>
              <a:t>frame_id</a:t>
            </a:r>
            <a:r>
              <a:rPr lang="zh-CN" altLang="en-US" b="0" i="0" dirty="0">
                <a:solidFill>
                  <a:srgbClr val="0F1115"/>
                </a:solidFill>
                <a:effectLst/>
                <a:latin typeface="quote-cjk-patch"/>
              </a:rPr>
              <a:t>的映射</a:t>
            </a:r>
          </a:p>
          <a:p>
            <a:pPr algn="l">
              <a:spcBef>
                <a:spcPts val="450"/>
              </a:spcBef>
              <a:spcAft>
                <a:spcPts val="1200"/>
              </a:spcAft>
              <a:buFont typeface="+mj-lt"/>
              <a:buAutoNum type="arabicPeriod"/>
            </a:pPr>
            <a:r>
              <a:rPr lang="zh-CN" altLang="en-US" b="1" i="0" dirty="0">
                <a:solidFill>
                  <a:srgbClr val="0F1115"/>
                </a:solidFill>
                <a:effectLst/>
                <a:latin typeface="quote-cjk-patch"/>
              </a:rPr>
              <a:t>返回页面指针</a:t>
            </a:r>
            <a:endParaRPr lang="zh-CN" altLang="en-US" b="0" i="0" dirty="0">
              <a:solidFill>
                <a:srgbClr val="0F1115"/>
              </a:solidFill>
              <a:effectLst/>
              <a:latin typeface="quote-cjk-patch"/>
            </a:endParaRPr>
          </a:p>
        </p:txBody>
      </p:sp>
      <p:pic>
        <p:nvPicPr>
          <p:cNvPr id="9" name="图片 8">
            <a:extLst>
              <a:ext uri="{FF2B5EF4-FFF2-40B4-BE49-F238E27FC236}">
                <a16:creationId xmlns:a16="http://schemas.microsoft.com/office/drawing/2014/main" id="{36A1A69F-12B8-DB5E-98A9-578D8F223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2979" y="323461"/>
            <a:ext cx="7499021" cy="5965371"/>
          </a:xfrm>
          <a:prstGeom prst="rect">
            <a:avLst/>
          </a:prstGeom>
        </p:spPr>
      </p:pic>
    </p:spTree>
    <p:extLst>
      <p:ext uri="{BB962C8B-B14F-4D97-AF65-F5344CB8AC3E}">
        <p14:creationId xmlns:p14="http://schemas.microsoft.com/office/powerpoint/2010/main" val="4236192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A258D10-3F62-7128-765A-2C67F7E49F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6963" y="687291"/>
            <a:ext cx="7875037" cy="5483417"/>
          </a:xfrm>
          <a:prstGeom prst="rect">
            <a:avLst/>
          </a:prstGeom>
        </p:spPr>
      </p:pic>
      <p:sp>
        <p:nvSpPr>
          <p:cNvPr id="7" name="文本框 6">
            <a:extLst>
              <a:ext uri="{FF2B5EF4-FFF2-40B4-BE49-F238E27FC236}">
                <a16:creationId xmlns:a16="http://schemas.microsoft.com/office/drawing/2014/main" id="{C3C2A740-77B6-DFC4-8D85-937D42E24F9D}"/>
              </a:ext>
            </a:extLst>
          </p:cNvPr>
          <p:cNvSpPr txBox="1"/>
          <p:nvPr/>
        </p:nvSpPr>
        <p:spPr>
          <a:xfrm>
            <a:off x="0" y="0"/>
            <a:ext cx="6096000" cy="375039"/>
          </a:xfrm>
          <a:prstGeom prst="rect">
            <a:avLst/>
          </a:prstGeom>
          <a:noFill/>
        </p:spPr>
        <p:txBody>
          <a:bodyPr wrap="square">
            <a:spAutoFit/>
          </a:bodyPr>
          <a:lstStyle/>
          <a:p>
            <a:pPr algn="l">
              <a:lnSpc>
                <a:spcPts val="2250"/>
              </a:lnSpc>
              <a:spcBef>
                <a:spcPts val="2400"/>
              </a:spcBef>
              <a:spcAft>
                <a:spcPts val="1200"/>
              </a:spcAft>
              <a:buNone/>
            </a:pPr>
            <a:r>
              <a:rPr lang="zh-CN" altLang="en-US" b="1" dirty="0">
                <a:solidFill>
                  <a:srgbClr val="0F1115"/>
                </a:solidFill>
                <a:effectLst/>
                <a:latin typeface="quote-cjk-patch"/>
              </a:rPr>
              <a:t>获取现有页面</a:t>
            </a:r>
          </a:p>
        </p:txBody>
      </p:sp>
      <p:sp>
        <p:nvSpPr>
          <p:cNvPr id="9" name="文本框 8">
            <a:extLst>
              <a:ext uri="{FF2B5EF4-FFF2-40B4-BE49-F238E27FC236}">
                <a16:creationId xmlns:a16="http://schemas.microsoft.com/office/drawing/2014/main" id="{558715BE-5585-8E06-E31A-866AA58A0AAA}"/>
              </a:ext>
            </a:extLst>
          </p:cNvPr>
          <p:cNvSpPr txBox="1"/>
          <p:nvPr/>
        </p:nvSpPr>
        <p:spPr>
          <a:xfrm>
            <a:off x="6220" y="1119238"/>
            <a:ext cx="3943739" cy="4442242"/>
          </a:xfrm>
          <a:prstGeom prst="rect">
            <a:avLst/>
          </a:prstGeom>
          <a:noFill/>
        </p:spPr>
        <p:txBody>
          <a:bodyPr wrap="square">
            <a:spAutoFit/>
          </a:bodyPr>
          <a:lstStyle/>
          <a:p>
            <a:pPr algn="l">
              <a:spcBef>
                <a:spcPts val="1200"/>
              </a:spcBef>
              <a:spcAft>
                <a:spcPts val="600"/>
              </a:spcAft>
              <a:buFont typeface="+mj-lt"/>
              <a:buAutoNum type="arabicPeriod"/>
            </a:pPr>
            <a:r>
              <a:rPr lang="zh-CN" altLang="en-US" b="1" i="0" dirty="0">
                <a:solidFill>
                  <a:srgbClr val="0F1115"/>
                </a:solidFill>
                <a:effectLst/>
                <a:latin typeface="quote-cjk-patch"/>
              </a:rPr>
              <a:t>检查页面是否在缓冲池</a:t>
            </a:r>
            <a:r>
              <a:rPr lang="zh-CN" altLang="en-US" b="0" i="0" dirty="0">
                <a:solidFill>
                  <a:srgbClr val="0F1115"/>
                </a:solidFill>
                <a:effectLst/>
                <a:latin typeface="quote-cjk-patch"/>
              </a:rPr>
              <a:t>：</a:t>
            </a:r>
          </a:p>
          <a:p>
            <a:pPr marL="742950" lvl="1" indent="-285750" algn="l">
              <a:lnSpc>
                <a:spcPts val="1650"/>
              </a:lnSpc>
              <a:spcBef>
                <a:spcPts val="300"/>
              </a:spcBef>
              <a:spcAft>
                <a:spcPts val="1200"/>
              </a:spcAft>
              <a:buFont typeface="+mj-lt"/>
              <a:buAutoNum type="arabicPeriod"/>
            </a:pPr>
            <a:r>
              <a:rPr lang="zh-CN" altLang="en-US" b="0" i="0" dirty="0">
                <a:solidFill>
                  <a:srgbClr val="0F1115"/>
                </a:solidFill>
                <a:effectLst/>
                <a:latin typeface="quote-cjk-patch"/>
              </a:rPr>
              <a:t>通过</a:t>
            </a:r>
            <a:r>
              <a:rPr lang="en-US" altLang="zh-CN" b="0" i="0" dirty="0" err="1">
                <a:solidFill>
                  <a:srgbClr val="0F1115"/>
                </a:solidFill>
                <a:effectLst/>
                <a:latin typeface="Menlo"/>
              </a:rPr>
              <a:t>page_table</a:t>
            </a:r>
            <a:r>
              <a:rPr lang="en-US" altLang="zh-CN" b="0" i="0" dirty="0">
                <a:solidFill>
                  <a:srgbClr val="0F1115"/>
                </a:solidFill>
                <a:effectLst/>
                <a:latin typeface="Menlo"/>
              </a:rPr>
              <a:t>_-&gt;Find()</a:t>
            </a:r>
            <a:r>
              <a:rPr lang="zh-CN" altLang="en-US" b="0" i="0" dirty="0">
                <a:solidFill>
                  <a:srgbClr val="0F1115"/>
                </a:solidFill>
                <a:effectLst/>
                <a:latin typeface="quote-cjk-patch"/>
              </a:rPr>
              <a:t>查找</a:t>
            </a:r>
          </a:p>
          <a:p>
            <a:pPr marL="742950" lvl="1" indent="-285750" algn="l">
              <a:spcBef>
                <a:spcPts val="450"/>
              </a:spcBef>
              <a:spcAft>
                <a:spcPts val="1200"/>
              </a:spcAft>
              <a:buFont typeface="+mj-lt"/>
              <a:buAutoNum type="arabicPeriod"/>
            </a:pPr>
            <a:r>
              <a:rPr lang="zh-CN" altLang="en-US" b="0" i="0" dirty="0">
                <a:solidFill>
                  <a:srgbClr val="0F1115"/>
                </a:solidFill>
                <a:effectLst/>
                <a:latin typeface="quote-cjk-patch"/>
              </a:rPr>
              <a:t>如果在，更新替换器记录，增加</a:t>
            </a:r>
            <a:r>
              <a:rPr lang="en-US" altLang="zh-CN" b="0" i="0" dirty="0" err="1">
                <a:solidFill>
                  <a:srgbClr val="0F1115"/>
                </a:solidFill>
                <a:effectLst/>
                <a:latin typeface="quote-cjk-patch"/>
              </a:rPr>
              <a:t>pin_count</a:t>
            </a:r>
            <a:r>
              <a:rPr lang="zh-CN" altLang="en-US" b="0" i="0" dirty="0">
                <a:solidFill>
                  <a:srgbClr val="0F1115"/>
                </a:solidFill>
                <a:effectLst/>
                <a:latin typeface="quote-cjk-patch"/>
              </a:rPr>
              <a:t>，返回页面</a:t>
            </a:r>
          </a:p>
          <a:p>
            <a:pPr algn="l">
              <a:spcBef>
                <a:spcPts val="450"/>
              </a:spcBef>
              <a:spcAft>
                <a:spcPts val="600"/>
              </a:spcAft>
              <a:buFont typeface="+mj-lt"/>
              <a:buAutoNum type="arabicPeriod"/>
            </a:pPr>
            <a:r>
              <a:rPr lang="zh-CN" altLang="en-US" b="1" i="0" dirty="0">
                <a:solidFill>
                  <a:srgbClr val="0F1115"/>
                </a:solidFill>
                <a:effectLst/>
                <a:latin typeface="quote-cjk-patch"/>
              </a:rPr>
              <a:t>页面不在缓冲池</a:t>
            </a:r>
            <a:r>
              <a:rPr lang="zh-CN" altLang="en-US" b="0" i="0" dirty="0">
                <a:solidFill>
                  <a:srgbClr val="0F1115"/>
                </a:solidFill>
                <a:effectLst/>
                <a:latin typeface="quote-cjk-patch"/>
              </a:rPr>
              <a:t>：</a:t>
            </a:r>
          </a:p>
          <a:p>
            <a:pPr marL="742950" lvl="1" indent="-285750" algn="l">
              <a:lnSpc>
                <a:spcPts val="1650"/>
              </a:lnSpc>
              <a:spcBef>
                <a:spcPts val="300"/>
              </a:spcBef>
              <a:spcAft>
                <a:spcPts val="1200"/>
              </a:spcAft>
              <a:buFont typeface="+mj-lt"/>
              <a:buAutoNum type="arabicPeriod"/>
            </a:pPr>
            <a:r>
              <a:rPr lang="zh-CN" altLang="en-US" b="0" i="0" dirty="0">
                <a:solidFill>
                  <a:srgbClr val="0F1115"/>
                </a:solidFill>
                <a:effectLst/>
                <a:latin typeface="quote-cjk-patch"/>
              </a:rPr>
              <a:t>调用</a:t>
            </a:r>
            <a:r>
              <a:rPr lang="en-US" altLang="zh-CN" b="0" i="0" dirty="0" err="1">
                <a:solidFill>
                  <a:srgbClr val="0F1115"/>
                </a:solidFill>
                <a:effectLst/>
                <a:latin typeface="Menlo"/>
              </a:rPr>
              <a:t>FindVictim</a:t>
            </a:r>
            <a:r>
              <a:rPr lang="en-US" altLang="zh-CN" b="0" i="0" dirty="0">
                <a:solidFill>
                  <a:srgbClr val="0F1115"/>
                </a:solidFill>
                <a:effectLst/>
                <a:latin typeface="Menlo"/>
              </a:rPr>
              <a:t>()</a:t>
            </a:r>
            <a:r>
              <a:rPr lang="zh-CN" altLang="en-US" b="0" i="0" dirty="0">
                <a:solidFill>
                  <a:srgbClr val="0F1115"/>
                </a:solidFill>
                <a:effectLst/>
                <a:latin typeface="quote-cjk-patch"/>
              </a:rPr>
              <a:t>获取可用帧</a:t>
            </a:r>
          </a:p>
          <a:p>
            <a:pPr marL="742950" lvl="1" indent="-285750" algn="l">
              <a:spcBef>
                <a:spcPts val="450"/>
              </a:spcBef>
              <a:spcAft>
                <a:spcPts val="1200"/>
              </a:spcAft>
              <a:buFont typeface="+mj-lt"/>
              <a:buAutoNum type="arabicPeriod"/>
            </a:pPr>
            <a:r>
              <a:rPr lang="zh-CN" altLang="en-US" b="0" i="0" dirty="0">
                <a:solidFill>
                  <a:srgbClr val="0F1115"/>
                </a:solidFill>
                <a:effectLst/>
                <a:latin typeface="quote-cjk-patch"/>
              </a:rPr>
              <a:t>重置页面元数据</a:t>
            </a:r>
          </a:p>
          <a:p>
            <a:pPr marL="742950" lvl="1" indent="-285750" algn="l">
              <a:lnSpc>
                <a:spcPts val="1650"/>
              </a:lnSpc>
              <a:spcBef>
                <a:spcPts val="450"/>
              </a:spcBef>
              <a:spcAft>
                <a:spcPts val="1200"/>
              </a:spcAft>
              <a:buFont typeface="+mj-lt"/>
              <a:buAutoNum type="arabicPeriod"/>
            </a:pPr>
            <a:r>
              <a:rPr lang="zh-CN" altLang="en-US" b="1" i="0" dirty="0">
                <a:solidFill>
                  <a:srgbClr val="0F1115"/>
                </a:solidFill>
                <a:effectLst/>
                <a:latin typeface="quote-cjk-patch"/>
              </a:rPr>
              <a:t>关键</a:t>
            </a:r>
            <a:r>
              <a:rPr lang="zh-CN" altLang="en-US" b="0" i="0" dirty="0">
                <a:solidFill>
                  <a:srgbClr val="0F1115"/>
                </a:solidFill>
                <a:effectLst/>
                <a:latin typeface="quote-cjk-patch"/>
              </a:rPr>
              <a:t>：从磁盘读取页面数据 </a:t>
            </a:r>
            <a:r>
              <a:rPr lang="en-US" altLang="zh-CN" b="0" i="0" dirty="0" err="1">
                <a:solidFill>
                  <a:srgbClr val="0F1115"/>
                </a:solidFill>
                <a:effectLst/>
                <a:latin typeface="Menlo"/>
              </a:rPr>
              <a:t>disk_manager</a:t>
            </a:r>
            <a:r>
              <a:rPr lang="en-US" altLang="zh-CN" b="0" i="0" dirty="0">
                <a:solidFill>
                  <a:srgbClr val="0F1115"/>
                </a:solidFill>
                <a:effectLst/>
                <a:latin typeface="Menlo"/>
              </a:rPr>
              <a:t>_-&gt;</a:t>
            </a:r>
            <a:r>
              <a:rPr lang="en-US" altLang="zh-CN" b="0" i="0" dirty="0" err="1">
                <a:solidFill>
                  <a:srgbClr val="0F1115"/>
                </a:solidFill>
                <a:effectLst/>
                <a:latin typeface="Menlo"/>
              </a:rPr>
              <a:t>ReadPage</a:t>
            </a:r>
            <a:r>
              <a:rPr lang="en-US" altLang="zh-CN" b="0" i="0" dirty="0">
                <a:solidFill>
                  <a:srgbClr val="0F1115"/>
                </a:solidFill>
                <a:effectLst/>
                <a:latin typeface="Menlo"/>
              </a:rPr>
              <a:t>()</a:t>
            </a:r>
            <a:endParaRPr lang="zh-CN" altLang="en-US" b="0" i="0" dirty="0">
              <a:solidFill>
                <a:srgbClr val="0F1115"/>
              </a:solidFill>
              <a:effectLst/>
              <a:latin typeface="quote-cjk-patch"/>
            </a:endParaRPr>
          </a:p>
          <a:p>
            <a:pPr algn="l">
              <a:spcBef>
                <a:spcPts val="450"/>
              </a:spcBef>
              <a:spcAft>
                <a:spcPts val="1200"/>
              </a:spcAft>
              <a:buFont typeface="+mj-lt"/>
              <a:buAutoNum type="arabicPeriod"/>
            </a:pPr>
            <a:r>
              <a:rPr lang="zh-CN" altLang="en-US" b="1" i="0" dirty="0">
                <a:solidFill>
                  <a:srgbClr val="0F1115"/>
                </a:solidFill>
                <a:effectLst/>
                <a:latin typeface="quote-cjk-patch"/>
              </a:rPr>
              <a:t>更新替换器和页表</a:t>
            </a:r>
            <a:endParaRPr lang="zh-CN" altLang="en-US" b="0" i="0" dirty="0">
              <a:solidFill>
                <a:srgbClr val="0F1115"/>
              </a:solidFill>
              <a:effectLst/>
              <a:latin typeface="quote-cjk-patch"/>
            </a:endParaRPr>
          </a:p>
          <a:p>
            <a:pPr algn="l">
              <a:spcBef>
                <a:spcPts val="450"/>
              </a:spcBef>
              <a:spcAft>
                <a:spcPts val="1200"/>
              </a:spcAft>
              <a:buFont typeface="+mj-lt"/>
              <a:buAutoNum type="arabicPeriod"/>
            </a:pPr>
            <a:r>
              <a:rPr lang="zh-CN" altLang="en-US" b="1" i="0" dirty="0">
                <a:solidFill>
                  <a:srgbClr val="0F1115"/>
                </a:solidFill>
                <a:effectLst/>
                <a:latin typeface="quote-cjk-patch"/>
              </a:rPr>
              <a:t>返回页面指针</a:t>
            </a:r>
            <a:endParaRPr lang="zh-CN" altLang="en-US" b="0" i="0" dirty="0">
              <a:solidFill>
                <a:srgbClr val="0F1115"/>
              </a:solidFill>
              <a:effectLst/>
              <a:latin typeface="quote-cjk-patch"/>
            </a:endParaRPr>
          </a:p>
        </p:txBody>
      </p:sp>
    </p:spTree>
    <p:extLst>
      <p:ext uri="{BB962C8B-B14F-4D97-AF65-F5344CB8AC3E}">
        <p14:creationId xmlns:p14="http://schemas.microsoft.com/office/powerpoint/2010/main" val="157505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44370CB-7AEC-56F3-2B41-ADAE16242681}"/>
              </a:ext>
            </a:extLst>
          </p:cNvPr>
          <p:cNvSpPr txBox="1"/>
          <p:nvPr/>
        </p:nvSpPr>
        <p:spPr>
          <a:xfrm>
            <a:off x="0" y="0"/>
            <a:ext cx="6096000" cy="375039"/>
          </a:xfrm>
          <a:prstGeom prst="rect">
            <a:avLst/>
          </a:prstGeom>
          <a:noFill/>
        </p:spPr>
        <p:txBody>
          <a:bodyPr wrap="square">
            <a:spAutoFit/>
          </a:bodyPr>
          <a:lstStyle/>
          <a:p>
            <a:pPr algn="l">
              <a:lnSpc>
                <a:spcPts val="2250"/>
              </a:lnSpc>
              <a:spcBef>
                <a:spcPts val="2400"/>
              </a:spcBef>
              <a:spcAft>
                <a:spcPts val="1200"/>
              </a:spcAft>
              <a:buNone/>
            </a:pPr>
            <a:r>
              <a:rPr lang="zh-CN" altLang="en-US" b="1" dirty="0">
                <a:solidFill>
                  <a:srgbClr val="0F1115"/>
                </a:solidFill>
                <a:effectLst/>
                <a:latin typeface="quote-cjk-patch"/>
              </a:rPr>
              <a:t>释放页面</a:t>
            </a:r>
          </a:p>
        </p:txBody>
      </p:sp>
      <p:sp>
        <p:nvSpPr>
          <p:cNvPr id="7" name="文本框 6">
            <a:extLst>
              <a:ext uri="{FF2B5EF4-FFF2-40B4-BE49-F238E27FC236}">
                <a16:creationId xmlns:a16="http://schemas.microsoft.com/office/drawing/2014/main" id="{6123A5CE-9741-145F-A023-750598637B93}"/>
              </a:ext>
            </a:extLst>
          </p:cNvPr>
          <p:cNvSpPr txBox="1"/>
          <p:nvPr/>
        </p:nvSpPr>
        <p:spPr>
          <a:xfrm>
            <a:off x="-49762" y="1578334"/>
            <a:ext cx="3172407" cy="2608406"/>
          </a:xfrm>
          <a:prstGeom prst="rect">
            <a:avLst/>
          </a:prstGeom>
          <a:noFill/>
        </p:spPr>
        <p:txBody>
          <a:bodyPr wrap="square">
            <a:spAutoFit/>
          </a:bodyPr>
          <a:lstStyle/>
          <a:p>
            <a:pPr algn="l">
              <a:spcBef>
                <a:spcPts val="1200"/>
              </a:spcBef>
              <a:spcAft>
                <a:spcPts val="1200"/>
              </a:spcAft>
              <a:buFont typeface="+mj-lt"/>
              <a:buAutoNum type="arabicPeriod"/>
            </a:pPr>
            <a:r>
              <a:rPr lang="zh-CN" altLang="en-US" b="1" i="0" dirty="0">
                <a:solidFill>
                  <a:srgbClr val="0F1115"/>
                </a:solidFill>
                <a:effectLst/>
                <a:latin typeface="quote-cjk-patch"/>
              </a:rPr>
              <a:t>检查页面是否存在</a:t>
            </a:r>
            <a:r>
              <a:rPr lang="zh-CN" altLang="en-US" b="0" i="0" dirty="0">
                <a:solidFill>
                  <a:srgbClr val="0F1115"/>
                </a:solidFill>
                <a:effectLst/>
                <a:latin typeface="quote-cjk-patch"/>
              </a:rPr>
              <a:t>：通过页表查找</a:t>
            </a:r>
            <a:r>
              <a:rPr lang="en-US" altLang="zh-CN" b="0" i="0" dirty="0" err="1">
                <a:solidFill>
                  <a:srgbClr val="0F1115"/>
                </a:solidFill>
                <a:effectLst/>
                <a:latin typeface="quote-cjk-patch"/>
              </a:rPr>
              <a:t>frame_id</a:t>
            </a:r>
            <a:endParaRPr lang="en-US" altLang="zh-CN" b="0" i="0" dirty="0">
              <a:solidFill>
                <a:srgbClr val="0F1115"/>
              </a:solidFill>
              <a:effectLst/>
              <a:latin typeface="quote-cjk-patch"/>
            </a:endParaRPr>
          </a:p>
          <a:p>
            <a:pPr algn="l">
              <a:spcBef>
                <a:spcPts val="450"/>
              </a:spcBef>
              <a:spcAft>
                <a:spcPts val="1200"/>
              </a:spcAft>
              <a:buFont typeface="+mj-lt"/>
              <a:buAutoNum type="arabicPeriod"/>
            </a:pPr>
            <a:r>
              <a:rPr lang="zh-CN" altLang="en-US" b="1" i="0" dirty="0">
                <a:solidFill>
                  <a:srgbClr val="0F1115"/>
                </a:solidFill>
                <a:effectLst/>
                <a:latin typeface="quote-cjk-patch"/>
              </a:rPr>
              <a:t>检查</a:t>
            </a:r>
            <a:r>
              <a:rPr lang="en-US" altLang="zh-CN" b="1" i="0" dirty="0" err="1">
                <a:solidFill>
                  <a:srgbClr val="0F1115"/>
                </a:solidFill>
                <a:effectLst/>
                <a:latin typeface="quote-cjk-patch"/>
              </a:rPr>
              <a:t>pin_count</a:t>
            </a:r>
            <a:r>
              <a:rPr lang="zh-CN" altLang="en-US" b="0" i="0" dirty="0">
                <a:solidFill>
                  <a:srgbClr val="0F1115"/>
                </a:solidFill>
                <a:effectLst/>
                <a:latin typeface="quote-cjk-patch"/>
              </a:rPr>
              <a:t>：如果已经是</a:t>
            </a:r>
            <a:r>
              <a:rPr lang="en-US" altLang="zh-CN" b="0" i="0" dirty="0">
                <a:solidFill>
                  <a:srgbClr val="0F1115"/>
                </a:solidFill>
                <a:effectLst/>
                <a:latin typeface="quote-cjk-patch"/>
              </a:rPr>
              <a:t>0</a:t>
            </a:r>
            <a:r>
              <a:rPr lang="zh-CN" altLang="en-US" b="0" i="0" dirty="0">
                <a:solidFill>
                  <a:srgbClr val="0F1115"/>
                </a:solidFill>
                <a:effectLst/>
                <a:latin typeface="quote-cjk-patch"/>
              </a:rPr>
              <a:t>，返回</a:t>
            </a:r>
            <a:r>
              <a:rPr lang="en-US" altLang="zh-CN" b="0" i="0" dirty="0">
                <a:solidFill>
                  <a:srgbClr val="0F1115"/>
                </a:solidFill>
                <a:effectLst/>
                <a:latin typeface="quote-cjk-patch"/>
              </a:rPr>
              <a:t>false</a:t>
            </a:r>
          </a:p>
          <a:p>
            <a:pPr algn="l">
              <a:spcBef>
                <a:spcPts val="450"/>
              </a:spcBef>
              <a:spcAft>
                <a:spcPts val="600"/>
              </a:spcAft>
              <a:buFont typeface="+mj-lt"/>
              <a:buAutoNum type="arabicPeriod"/>
            </a:pPr>
            <a:r>
              <a:rPr lang="zh-CN" altLang="en-US" b="1" i="0" dirty="0">
                <a:solidFill>
                  <a:srgbClr val="0F1115"/>
                </a:solidFill>
                <a:effectLst/>
                <a:latin typeface="quote-cjk-patch"/>
              </a:rPr>
              <a:t>减少</a:t>
            </a:r>
            <a:r>
              <a:rPr lang="en-US" altLang="zh-CN" b="1" i="0" dirty="0" err="1">
                <a:solidFill>
                  <a:srgbClr val="0F1115"/>
                </a:solidFill>
                <a:effectLst/>
                <a:latin typeface="quote-cjk-patch"/>
              </a:rPr>
              <a:t>pin_count</a:t>
            </a:r>
            <a:r>
              <a:rPr lang="zh-CN" altLang="en-US" b="0" i="0" dirty="0">
                <a:solidFill>
                  <a:srgbClr val="0F1115"/>
                </a:solidFill>
                <a:effectLst/>
                <a:latin typeface="quote-cjk-patch"/>
              </a:rPr>
              <a:t>：如果为</a:t>
            </a:r>
            <a:r>
              <a:rPr lang="en-US" altLang="zh-CN" b="0" i="0" dirty="0">
                <a:solidFill>
                  <a:srgbClr val="0F1115"/>
                </a:solidFill>
                <a:effectLst/>
                <a:latin typeface="quote-cjk-patch"/>
              </a:rPr>
              <a:t>0</a:t>
            </a:r>
            <a:r>
              <a:rPr lang="zh-CN" altLang="en-US" b="0" i="0" dirty="0">
                <a:solidFill>
                  <a:srgbClr val="0F1115"/>
                </a:solidFill>
                <a:effectLst/>
                <a:latin typeface="quote-cjk-patch"/>
              </a:rPr>
              <a:t>，变为可驱逐</a:t>
            </a:r>
            <a:endParaRPr lang="en-US" altLang="zh-CN" b="0" i="0" dirty="0">
              <a:solidFill>
                <a:srgbClr val="0F1115"/>
              </a:solidFill>
              <a:effectLst/>
              <a:latin typeface="quote-cjk-patch"/>
            </a:endParaRPr>
          </a:p>
          <a:p>
            <a:pPr>
              <a:spcBef>
                <a:spcPts val="450"/>
              </a:spcBef>
              <a:spcAft>
                <a:spcPts val="600"/>
              </a:spcAft>
              <a:buFont typeface="+mj-lt"/>
              <a:buAutoNum type="arabicPeriod"/>
            </a:pPr>
            <a:r>
              <a:rPr lang="zh-CN" altLang="en-US" b="1" dirty="0"/>
              <a:t>更新脏标志</a:t>
            </a:r>
            <a:endParaRPr lang="zh-CN" altLang="en-US" b="0" i="0" dirty="0">
              <a:solidFill>
                <a:srgbClr val="0F1115"/>
              </a:solidFill>
              <a:effectLst/>
              <a:latin typeface="quote-cjk-patch"/>
            </a:endParaRPr>
          </a:p>
        </p:txBody>
      </p:sp>
      <p:pic>
        <p:nvPicPr>
          <p:cNvPr id="11" name="图片 10">
            <a:extLst>
              <a:ext uri="{FF2B5EF4-FFF2-40B4-BE49-F238E27FC236}">
                <a16:creationId xmlns:a16="http://schemas.microsoft.com/office/drawing/2014/main" id="{DE5739C2-FC0E-84A5-C039-E96F5C611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484" y="547395"/>
            <a:ext cx="8635516" cy="5358882"/>
          </a:xfrm>
          <a:prstGeom prst="rect">
            <a:avLst/>
          </a:prstGeom>
        </p:spPr>
      </p:pic>
    </p:spTree>
    <p:extLst>
      <p:ext uri="{BB962C8B-B14F-4D97-AF65-F5344CB8AC3E}">
        <p14:creationId xmlns:p14="http://schemas.microsoft.com/office/powerpoint/2010/main" val="1192849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727DA44-AC15-655C-B626-A292B0512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7204" y="0"/>
            <a:ext cx="8334796" cy="6858000"/>
          </a:xfrm>
          <a:prstGeom prst="rect">
            <a:avLst/>
          </a:prstGeom>
        </p:spPr>
      </p:pic>
      <p:sp>
        <p:nvSpPr>
          <p:cNvPr id="9" name="文本框 8">
            <a:extLst>
              <a:ext uri="{FF2B5EF4-FFF2-40B4-BE49-F238E27FC236}">
                <a16:creationId xmlns:a16="http://schemas.microsoft.com/office/drawing/2014/main" id="{F23522BD-0CDD-427C-9D49-AB5BFC818A44}"/>
              </a:ext>
            </a:extLst>
          </p:cNvPr>
          <p:cNvSpPr txBox="1"/>
          <p:nvPr/>
        </p:nvSpPr>
        <p:spPr>
          <a:xfrm>
            <a:off x="0" y="0"/>
            <a:ext cx="6096000" cy="375039"/>
          </a:xfrm>
          <a:prstGeom prst="rect">
            <a:avLst/>
          </a:prstGeom>
          <a:noFill/>
        </p:spPr>
        <p:txBody>
          <a:bodyPr wrap="square">
            <a:spAutoFit/>
          </a:bodyPr>
          <a:lstStyle/>
          <a:p>
            <a:pPr algn="l">
              <a:lnSpc>
                <a:spcPts val="2250"/>
              </a:lnSpc>
              <a:spcBef>
                <a:spcPts val="2400"/>
              </a:spcBef>
              <a:spcAft>
                <a:spcPts val="1200"/>
              </a:spcAft>
              <a:buNone/>
            </a:pPr>
            <a:r>
              <a:rPr lang="zh-CN" altLang="en-US" b="1" dirty="0">
                <a:solidFill>
                  <a:srgbClr val="0F1115"/>
                </a:solidFill>
                <a:effectLst/>
                <a:latin typeface="quote-cjk-patch"/>
              </a:rPr>
              <a:t>删除页面</a:t>
            </a:r>
          </a:p>
        </p:txBody>
      </p:sp>
      <p:sp>
        <p:nvSpPr>
          <p:cNvPr id="11" name="文本框 10">
            <a:extLst>
              <a:ext uri="{FF2B5EF4-FFF2-40B4-BE49-F238E27FC236}">
                <a16:creationId xmlns:a16="http://schemas.microsoft.com/office/drawing/2014/main" id="{B20A7396-7DEB-4AD1-0E1F-CD4E0E09741C}"/>
              </a:ext>
            </a:extLst>
          </p:cNvPr>
          <p:cNvSpPr txBox="1"/>
          <p:nvPr/>
        </p:nvSpPr>
        <p:spPr>
          <a:xfrm>
            <a:off x="55984" y="1029026"/>
            <a:ext cx="3726024" cy="5005794"/>
          </a:xfrm>
          <a:prstGeom prst="rect">
            <a:avLst/>
          </a:prstGeom>
          <a:noFill/>
        </p:spPr>
        <p:txBody>
          <a:bodyPr wrap="square">
            <a:spAutoFit/>
          </a:bodyPr>
          <a:lstStyle/>
          <a:p>
            <a:pPr algn="l">
              <a:spcBef>
                <a:spcPts val="1200"/>
              </a:spcBef>
              <a:spcAft>
                <a:spcPts val="1200"/>
              </a:spcAft>
              <a:buFont typeface="+mj-lt"/>
              <a:buAutoNum type="arabicPeriod"/>
            </a:pPr>
            <a:r>
              <a:rPr lang="zh-CN" altLang="en-US" b="1" i="0" dirty="0">
                <a:solidFill>
                  <a:srgbClr val="0F1115"/>
                </a:solidFill>
                <a:effectLst/>
                <a:latin typeface="quote-cjk-patch"/>
              </a:rPr>
              <a:t>检查页面是否存在</a:t>
            </a:r>
            <a:r>
              <a:rPr lang="zh-CN" altLang="en-US" b="0" i="0" dirty="0">
                <a:solidFill>
                  <a:srgbClr val="0F1115"/>
                </a:solidFill>
                <a:effectLst/>
                <a:latin typeface="quote-cjk-patch"/>
              </a:rPr>
              <a:t>：不在缓冲池则直接返回</a:t>
            </a:r>
            <a:r>
              <a:rPr lang="en-US" altLang="zh-CN" b="0" i="0" dirty="0">
                <a:solidFill>
                  <a:srgbClr val="0F1115"/>
                </a:solidFill>
                <a:effectLst/>
                <a:latin typeface="quote-cjk-patch"/>
              </a:rPr>
              <a:t>true</a:t>
            </a:r>
          </a:p>
          <a:p>
            <a:pPr algn="l">
              <a:spcBef>
                <a:spcPts val="450"/>
              </a:spcBef>
              <a:spcAft>
                <a:spcPts val="1200"/>
              </a:spcAft>
              <a:buFont typeface="+mj-lt"/>
              <a:buAutoNum type="arabicPeriod"/>
            </a:pPr>
            <a:r>
              <a:rPr lang="zh-CN" altLang="en-US" b="1" i="0" dirty="0">
                <a:solidFill>
                  <a:srgbClr val="0F1115"/>
                </a:solidFill>
                <a:effectLst/>
                <a:latin typeface="quote-cjk-patch"/>
              </a:rPr>
              <a:t>检查是否被固定</a:t>
            </a:r>
            <a:r>
              <a:rPr lang="zh-CN" altLang="en-US" b="0" i="0" dirty="0">
                <a:solidFill>
                  <a:srgbClr val="0F1115"/>
                </a:solidFill>
                <a:effectLst/>
                <a:latin typeface="quote-cjk-patch"/>
              </a:rPr>
              <a:t>：</a:t>
            </a:r>
            <a:r>
              <a:rPr lang="en-US" altLang="zh-CN" b="0" i="0" dirty="0" err="1">
                <a:solidFill>
                  <a:srgbClr val="0F1115"/>
                </a:solidFill>
                <a:effectLst/>
                <a:latin typeface="quote-cjk-patch"/>
              </a:rPr>
              <a:t>pin_count</a:t>
            </a:r>
            <a:r>
              <a:rPr lang="en-US" altLang="zh-CN" b="0" i="0" dirty="0">
                <a:solidFill>
                  <a:srgbClr val="0F1115"/>
                </a:solidFill>
                <a:effectLst/>
                <a:latin typeface="quote-cjk-patch"/>
              </a:rPr>
              <a:t> &gt; 0</a:t>
            </a:r>
            <a:r>
              <a:rPr lang="zh-CN" altLang="en-US" b="0" i="0" dirty="0">
                <a:solidFill>
                  <a:srgbClr val="0F1115"/>
                </a:solidFill>
                <a:effectLst/>
                <a:latin typeface="quote-cjk-patch"/>
              </a:rPr>
              <a:t>则不能删除，返回</a:t>
            </a:r>
            <a:r>
              <a:rPr lang="en-US" altLang="zh-CN" b="0" i="0" dirty="0">
                <a:solidFill>
                  <a:srgbClr val="0F1115"/>
                </a:solidFill>
                <a:effectLst/>
                <a:latin typeface="quote-cjk-patch"/>
              </a:rPr>
              <a:t>false</a:t>
            </a:r>
          </a:p>
          <a:p>
            <a:pPr algn="l">
              <a:spcBef>
                <a:spcPts val="450"/>
              </a:spcBef>
              <a:spcAft>
                <a:spcPts val="1200"/>
              </a:spcAft>
              <a:buFont typeface="+mj-lt"/>
              <a:buAutoNum type="arabicPeriod"/>
            </a:pPr>
            <a:r>
              <a:rPr lang="zh-CN" altLang="en-US" b="1" i="0" dirty="0">
                <a:solidFill>
                  <a:srgbClr val="0F1115"/>
                </a:solidFill>
                <a:effectLst/>
                <a:latin typeface="quote-cjk-patch"/>
              </a:rPr>
              <a:t>处理脏页</a:t>
            </a:r>
            <a:r>
              <a:rPr lang="zh-CN" altLang="en-US" b="0" i="0" dirty="0">
                <a:solidFill>
                  <a:srgbClr val="0F1115"/>
                </a:solidFill>
                <a:effectLst/>
                <a:latin typeface="quote-cjk-patch"/>
              </a:rPr>
              <a:t>：如果是脏页，写回磁盘</a:t>
            </a:r>
          </a:p>
          <a:p>
            <a:pPr algn="l">
              <a:spcBef>
                <a:spcPts val="450"/>
              </a:spcBef>
              <a:spcAft>
                <a:spcPts val="600"/>
              </a:spcAft>
              <a:buFont typeface="+mj-lt"/>
              <a:buAutoNum type="arabicPeriod"/>
            </a:pPr>
            <a:r>
              <a:rPr lang="zh-CN" altLang="en-US" b="1" i="0" dirty="0">
                <a:solidFill>
                  <a:srgbClr val="0F1115"/>
                </a:solidFill>
                <a:effectLst/>
                <a:latin typeface="quote-cjk-patch"/>
              </a:rPr>
              <a:t>清理资源</a:t>
            </a:r>
            <a:r>
              <a:rPr lang="zh-CN" altLang="en-US" b="0" i="0" dirty="0">
                <a:solidFill>
                  <a:srgbClr val="0F1115"/>
                </a:solidFill>
                <a:effectLst/>
                <a:latin typeface="quote-cjk-patch"/>
              </a:rPr>
              <a:t>：</a:t>
            </a:r>
          </a:p>
          <a:p>
            <a:pPr marL="742950" lvl="1" indent="-285750" algn="l">
              <a:spcBef>
                <a:spcPts val="300"/>
              </a:spcBef>
              <a:spcAft>
                <a:spcPts val="1200"/>
              </a:spcAft>
              <a:buFont typeface="+mj-lt"/>
              <a:buAutoNum type="arabicPeriod"/>
            </a:pPr>
            <a:r>
              <a:rPr lang="zh-CN" altLang="en-US" b="0" i="0" dirty="0">
                <a:solidFill>
                  <a:srgbClr val="0F1115"/>
                </a:solidFill>
                <a:effectLst/>
                <a:latin typeface="quote-cjk-patch"/>
              </a:rPr>
              <a:t>从页表中移除映射</a:t>
            </a:r>
          </a:p>
          <a:p>
            <a:pPr marL="742950" lvl="1" indent="-285750" algn="l">
              <a:spcBef>
                <a:spcPts val="450"/>
              </a:spcBef>
              <a:spcAft>
                <a:spcPts val="1200"/>
              </a:spcAft>
              <a:buFont typeface="+mj-lt"/>
              <a:buAutoNum type="arabicPeriod"/>
            </a:pPr>
            <a:r>
              <a:rPr lang="zh-CN" altLang="en-US" b="0" i="0" dirty="0">
                <a:solidFill>
                  <a:srgbClr val="0F1115"/>
                </a:solidFill>
                <a:effectLst/>
                <a:latin typeface="quote-cjk-patch"/>
              </a:rPr>
              <a:t>从替换器中移除记录</a:t>
            </a:r>
          </a:p>
          <a:p>
            <a:pPr marL="742950" lvl="1" indent="-285750" algn="l">
              <a:spcBef>
                <a:spcPts val="450"/>
              </a:spcBef>
              <a:spcAft>
                <a:spcPts val="1200"/>
              </a:spcAft>
              <a:buFont typeface="+mj-lt"/>
              <a:buAutoNum type="arabicPeriod"/>
            </a:pPr>
            <a:r>
              <a:rPr lang="zh-CN" altLang="en-US" b="0" i="0" dirty="0">
                <a:solidFill>
                  <a:srgbClr val="0F1115"/>
                </a:solidFill>
                <a:effectLst/>
                <a:latin typeface="quote-cjk-patch"/>
              </a:rPr>
              <a:t>将帧加入空闲列表</a:t>
            </a:r>
          </a:p>
          <a:p>
            <a:pPr marL="742950" lvl="1" indent="-285750" algn="l">
              <a:spcBef>
                <a:spcPts val="450"/>
              </a:spcBef>
              <a:spcAft>
                <a:spcPts val="1200"/>
              </a:spcAft>
              <a:buFont typeface="+mj-lt"/>
              <a:buAutoNum type="arabicPeriod"/>
            </a:pPr>
            <a:r>
              <a:rPr lang="zh-CN" altLang="en-US" b="0" i="0" dirty="0">
                <a:solidFill>
                  <a:srgbClr val="0F1115"/>
                </a:solidFill>
                <a:effectLst/>
                <a:latin typeface="quote-cjk-patch"/>
              </a:rPr>
              <a:t>重置页面元数据</a:t>
            </a:r>
          </a:p>
          <a:p>
            <a:pPr algn="l">
              <a:lnSpc>
                <a:spcPts val="1650"/>
              </a:lnSpc>
              <a:spcBef>
                <a:spcPts val="450"/>
              </a:spcBef>
              <a:spcAft>
                <a:spcPts val="1200"/>
              </a:spcAft>
              <a:buFont typeface="+mj-lt"/>
              <a:buAutoNum type="arabicPeriod"/>
            </a:pPr>
            <a:r>
              <a:rPr lang="zh-CN" altLang="en-US" b="1" i="0" dirty="0">
                <a:solidFill>
                  <a:srgbClr val="0F1115"/>
                </a:solidFill>
                <a:effectLst/>
                <a:latin typeface="quote-cjk-patch"/>
              </a:rPr>
              <a:t>释放磁盘空间</a:t>
            </a:r>
            <a:endParaRPr lang="zh-CN" altLang="en-US" b="0" i="0" dirty="0">
              <a:solidFill>
                <a:srgbClr val="0F1115"/>
              </a:solidFill>
              <a:effectLst/>
              <a:latin typeface="quote-cjk-patch"/>
            </a:endParaRPr>
          </a:p>
        </p:txBody>
      </p:sp>
    </p:spTree>
    <p:extLst>
      <p:ext uri="{BB962C8B-B14F-4D97-AF65-F5344CB8AC3E}">
        <p14:creationId xmlns:p14="http://schemas.microsoft.com/office/powerpoint/2010/main" val="37809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613C05CD-531B-1776-B7A8-A0FECAF00F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6263" y="28388"/>
            <a:ext cx="5411983" cy="3782008"/>
          </a:xfrm>
          <a:prstGeom prst="rect">
            <a:avLst/>
          </a:prstGeom>
        </p:spPr>
      </p:pic>
      <p:pic>
        <p:nvPicPr>
          <p:cNvPr id="13" name="图片 12">
            <a:extLst>
              <a:ext uri="{FF2B5EF4-FFF2-40B4-BE49-F238E27FC236}">
                <a16:creationId xmlns:a16="http://schemas.microsoft.com/office/drawing/2014/main" id="{FAC9B826-14DE-2FC0-BAD2-D39B01EEF2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54" y="0"/>
            <a:ext cx="6062246" cy="3782008"/>
          </a:xfrm>
          <a:prstGeom prst="rect">
            <a:avLst/>
          </a:prstGeom>
        </p:spPr>
      </p:pic>
      <p:pic>
        <p:nvPicPr>
          <p:cNvPr id="15" name="图片 14">
            <a:extLst>
              <a:ext uri="{FF2B5EF4-FFF2-40B4-BE49-F238E27FC236}">
                <a16:creationId xmlns:a16="http://schemas.microsoft.com/office/drawing/2014/main" id="{B48FF020-8F23-E72A-9DE3-9E51DA9388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68" y="3874116"/>
            <a:ext cx="6916930" cy="2955496"/>
          </a:xfrm>
          <a:prstGeom prst="rect">
            <a:avLst/>
          </a:prstGeom>
        </p:spPr>
      </p:pic>
    </p:spTree>
    <p:extLst>
      <p:ext uri="{BB962C8B-B14F-4D97-AF65-F5344CB8AC3E}">
        <p14:creationId xmlns:p14="http://schemas.microsoft.com/office/powerpoint/2010/main" val="2682263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94C1B9-D2E1-9AEA-C4AC-F9EACBBA03AF}"/>
              </a:ext>
            </a:extLst>
          </p:cNvPr>
          <p:cNvSpPr>
            <a:spLocks noGrp="1"/>
          </p:cNvSpPr>
          <p:nvPr>
            <p:ph type="ctrTitle"/>
          </p:nvPr>
        </p:nvSpPr>
        <p:spPr/>
        <p:txBody>
          <a:bodyPr/>
          <a:lstStyle/>
          <a:p>
            <a:r>
              <a:rPr lang="en-US" altLang="zh-CN" dirty="0"/>
              <a:t>Project2</a:t>
            </a:r>
            <a:endParaRPr lang="zh-CN" altLang="en-US" dirty="0"/>
          </a:p>
        </p:txBody>
      </p:sp>
      <p:sp>
        <p:nvSpPr>
          <p:cNvPr id="3" name="副标题 2">
            <a:extLst>
              <a:ext uri="{FF2B5EF4-FFF2-40B4-BE49-F238E27FC236}">
                <a16:creationId xmlns:a16="http://schemas.microsoft.com/office/drawing/2014/main" id="{FD47A086-6B2B-6AA9-B22A-3F90767AB91E}"/>
              </a:ext>
            </a:extLst>
          </p:cNvPr>
          <p:cNvSpPr>
            <a:spLocks noGrp="1"/>
          </p:cNvSpPr>
          <p:nvPr>
            <p:ph type="subTitle" idx="1"/>
          </p:nvPr>
        </p:nvSpPr>
        <p:spPr/>
        <p:txBody>
          <a:bodyPr/>
          <a:lstStyle/>
          <a:p>
            <a:r>
              <a:rPr lang="zh-CN" altLang="en-US" dirty="0"/>
              <a:t>单线程 </a:t>
            </a:r>
            <a:r>
              <a:rPr lang="en-US" altLang="zh-CN" dirty="0"/>
              <a:t>B+</a:t>
            </a:r>
            <a:r>
              <a:rPr lang="zh-CN" altLang="en-US" dirty="0"/>
              <a:t>树和多线程</a:t>
            </a:r>
            <a:r>
              <a:rPr lang="en-US" altLang="zh-CN" dirty="0"/>
              <a:t>B+</a:t>
            </a:r>
            <a:r>
              <a:rPr lang="zh-CN" altLang="en-US" dirty="0"/>
              <a:t>树</a:t>
            </a:r>
          </a:p>
        </p:txBody>
      </p:sp>
    </p:spTree>
    <p:extLst>
      <p:ext uri="{BB962C8B-B14F-4D97-AF65-F5344CB8AC3E}">
        <p14:creationId xmlns:p14="http://schemas.microsoft.com/office/powerpoint/2010/main" val="4008006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94C1B9-D2E1-9AEA-C4AC-F9EACBBA03AF}"/>
              </a:ext>
            </a:extLst>
          </p:cNvPr>
          <p:cNvSpPr>
            <a:spLocks noGrp="1"/>
          </p:cNvSpPr>
          <p:nvPr>
            <p:ph type="ctrTitle"/>
          </p:nvPr>
        </p:nvSpPr>
        <p:spPr/>
        <p:txBody>
          <a:bodyPr/>
          <a:lstStyle/>
          <a:p>
            <a:r>
              <a:rPr lang="zh-CN" altLang="en-US" dirty="0"/>
              <a:t>单线程</a:t>
            </a:r>
            <a:r>
              <a:rPr lang="en-US" altLang="zh-CN" dirty="0"/>
              <a:t>B+</a:t>
            </a:r>
            <a:r>
              <a:rPr lang="zh-CN" altLang="en-US" dirty="0"/>
              <a:t>树</a:t>
            </a:r>
          </a:p>
        </p:txBody>
      </p:sp>
    </p:spTree>
    <p:extLst>
      <p:ext uri="{BB962C8B-B14F-4D97-AF65-F5344CB8AC3E}">
        <p14:creationId xmlns:p14="http://schemas.microsoft.com/office/powerpoint/2010/main" val="3953768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95822-5607-E9FF-3AA0-97F4665389B1}"/>
              </a:ext>
            </a:extLst>
          </p:cNvPr>
          <p:cNvSpPr>
            <a:spLocks noGrp="1"/>
          </p:cNvSpPr>
          <p:nvPr>
            <p:ph type="title"/>
          </p:nvPr>
        </p:nvSpPr>
        <p:spPr>
          <a:xfrm>
            <a:off x="0" y="186221"/>
            <a:ext cx="6009861" cy="1325563"/>
          </a:xfrm>
        </p:spPr>
        <p:txBody>
          <a:bodyPr/>
          <a:lstStyle/>
          <a:p>
            <a:r>
              <a:rPr lang="en-US" altLang="zh-CN" dirty="0"/>
              <a:t>1. B+ </a:t>
            </a:r>
            <a:r>
              <a:rPr lang="zh-CN" altLang="en-US" dirty="0"/>
              <a:t>树节点 </a:t>
            </a:r>
            <a:r>
              <a:rPr lang="en-US" altLang="zh-CN" dirty="0"/>
              <a:t>—— </a:t>
            </a:r>
            <a:r>
              <a:rPr lang="zh-CN" altLang="en-US" dirty="0"/>
              <a:t>页（</a:t>
            </a:r>
            <a:r>
              <a:rPr lang="en-US" altLang="zh-CN" dirty="0"/>
              <a:t>Page</a:t>
            </a:r>
            <a:r>
              <a:rPr lang="zh-CN" altLang="en-US" dirty="0"/>
              <a:t>）</a:t>
            </a:r>
          </a:p>
        </p:txBody>
      </p:sp>
      <p:sp>
        <p:nvSpPr>
          <p:cNvPr id="3" name="内容占位符 2">
            <a:extLst>
              <a:ext uri="{FF2B5EF4-FFF2-40B4-BE49-F238E27FC236}">
                <a16:creationId xmlns:a16="http://schemas.microsoft.com/office/drawing/2014/main" id="{034D96BA-9CE1-ED1A-A842-69BF15A0F005}"/>
              </a:ext>
            </a:extLst>
          </p:cNvPr>
          <p:cNvSpPr>
            <a:spLocks noGrp="1"/>
          </p:cNvSpPr>
          <p:nvPr>
            <p:ph idx="1"/>
          </p:nvPr>
        </p:nvSpPr>
        <p:spPr>
          <a:xfrm>
            <a:off x="0" y="1845503"/>
            <a:ext cx="6416729" cy="4351338"/>
          </a:xfrm>
        </p:spPr>
        <p:txBody>
          <a:bodyPr/>
          <a:lstStyle/>
          <a:p>
            <a:r>
              <a:rPr lang="zh-CN" altLang="en-US" dirty="0"/>
              <a:t>在 </a:t>
            </a:r>
            <a:r>
              <a:rPr lang="en-US" altLang="zh-CN" dirty="0" err="1"/>
              <a:t>Bustub</a:t>
            </a:r>
            <a:r>
              <a:rPr lang="en-US" altLang="zh-CN" dirty="0"/>
              <a:t> </a:t>
            </a:r>
            <a:r>
              <a:rPr lang="zh-CN" altLang="en-US" dirty="0"/>
              <a:t>中，</a:t>
            </a:r>
            <a:r>
              <a:rPr lang="en-US" altLang="zh-CN" b="1" dirty="0"/>
              <a:t>B+ </a:t>
            </a:r>
            <a:r>
              <a:rPr lang="zh-CN" altLang="en-US" b="1" dirty="0"/>
              <a:t>树的每个节点都是一个 </a:t>
            </a:r>
            <a:r>
              <a:rPr lang="en-US" altLang="zh-CN" b="1" dirty="0"/>
              <a:t>Page</a:t>
            </a:r>
          </a:p>
          <a:p>
            <a:r>
              <a:rPr lang="en-US" altLang="zh-CN" dirty="0"/>
              <a:t>Page </a:t>
            </a:r>
            <a:r>
              <a:rPr lang="zh-CN" altLang="en-US" dirty="0"/>
              <a:t>大小固定为 </a:t>
            </a:r>
            <a:r>
              <a:rPr lang="en-US" altLang="zh-CN" b="1" dirty="0"/>
              <a:t>4KB</a:t>
            </a:r>
          </a:p>
          <a:p>
            <a:r>
              <a:rPr lang="zh-CN" altLang="en-US" dirty="0"/>
              <a:t>通过 </a:t>
            </a:r>
            <a:r>
              <a:rPr lang="en-US" altLang="zh-CN" dirty="0"/>
              <a:t>Buffer Pool Manager </a:t>
            </a:r>
            <a:r>
              <a:rPr lang="zh-CN" altLang="en-US" dirty="0"/>
              <a:t>管理</a:t>
            </a:r>
            <a:endParaRPr lang="en-US" altLang="zh-CN" dirty="0"/>
          </a:p>
          <a:p>
            <a:r>
              <a:rPr lang="en-US" altLang="zh-CN" dirty="0"/>
              <a:t>Internal Page </a:t>
            </a:r>
            <a:r>
              <a:rPr lang="zh-CN" altLang="en-US" dirty="0"/>
              <a:t>和 </a:t>
            </a:r>
            <a:r>
              <a:rPr lang="en-US" altLang="zh-CN" dirty="0"/>
              <a:t>Leaf Page</a:t>
            </a:r>
            <a:r>
              <a:rPr lang="zh-CN" altLang="en-US" b="1" dirty="0"/>
              <a:t>不同</a:t>
            </a:r>
            <a:endParaRPr lang="en-US" altLang="zh-CN" b="1" dirty="0"/>
          </a:p>
          <a:p>
            <a:r>
              <a:rPr lang="zh-CN" altLang="en-US" dirty="0"/>
              <a:t>页内数据</a:t>
            </a:r>
            <a:r>
              <a:rPr lang="en-US" altLang="zh-CN" dirty="0"/>
              <a:t>=header+</a:t>
            </a:r>
            <a:r>
              <a:rPr lang="zh-CN" altLang="en-US" dirty="0"/>
              <a:t>键值对</a:t>
            </a:r>
          </a:p>
        </p:txBody>
      </p:sp>
      <p:pic>
        <p:nvPicPr>
          <p:cNvPr id="5" name="图片 4">
            <a:extLst>
              <a:ext uri="{FF2B5EF4-FFF2-40B4-BE49-F238E27FC236}">
                <a16:creationId xmlns:a16="http://schemas.microsoft.com/office/drawing/2014/main" id="{B10E0BBF-7C9E-A979-3A0B-98F1F028AF4B}"/>
              </a:ext>
            </a:extLst>
          </p:cNvPr>
          <p:cNvPicPr>
            <a:picLocks noChangeAspect="1"/>
          </p:cNvPicPr>
          <p:nvPr/>
        </p:nvPicPr>
        <p:blipFill>
          <a:blip r:embed="rId2"/>
          <a:stretch>
            <a:fillRect/>
          </a:stretch>
        </p:blipFill>
        <p:spPr>
          <a:xfrm>
            <a:off x="6416729" y="0"/>
            <a:ext cx="5838854" cy="6858000"/>
          </a:xfrm>
          <a:prstGeom prst="rect">
            <a:avLst/>
          </a:prstGeom>
        </p:spPr>
      </p:pic>
    </p:spTree>
    <p:extLst>
      <p:ext uri="{BB962C8B-B14F-4D97-AF65-F5344CB8AC3E}">
        <p14:creationId xmlns:p14="http://schemas.microsoft.com/office/powerpoint/2010/main" val="202952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57B4A-CF67-5F43-5E1D-72A215872121}"/>
              </a:ext>
            </a:extLst>
          </p:cNvPr>
          <p:cNvSpPr>
            <a:spLocks noGrp="1"/>
          </p:cNvSpPr>
          <p:nvPr>
            <p:ph type="title"/>
          </p:nvPr>
        </p:nvSpPr>
        <p:spPr>
          <a:xfrm>
            <a:off x="0" y="61732"/>
            <a:ext cx="10515600" cy="1325563"/>
          </a:xfrm>
        </p:spPr>
        <p:txBody>
          <a:bodyPr/>
          <a:lstStyle/>
          <a:p>
            <a:r>
              <a:rPr lang="en-US" altLang="zh-CN" dirty="0"/>
              <a:t>Internal Page</a:t>
            </a:r>
            <a:endParaRPr lang="zh-CN" altLang="en-US" dirty="0"/>
          </a:p>
        </p:txBody>
      </p:sp>
      <p:sp>
        <p:nvSpPr>
          <p:cNvPr id="7" name="内容占位符 2">
            <a:extLst>
              <a:ext uri="{FF2B5EF4-FFF2-40B4-BE49-F238E27FC236}">
                <a16:creationId xmlns:a16="http://schemas.microsoft.com/office/drawing/2014/main" id="{21E0486A-4CB4-04BB-F854-802D080FA5C8}"/>
              </a:ext>
            </a:extLst>
          </p:cNvPr>
          <p:cNvSpPr txBox="1">
            <a:spLocks/>
          </p:cNvSpPr>
          <p:nvPr/>
        </p:nvSpPr>
        <p:spPr>
          <a:xfrm>
            <a:off x="0" y="144793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N</a:t>
            </a:r>
            <a:r>
              <a:rPr lang="zh-CN" altLang="en-US" dirty="0"/>
              <a:t>阶</a:t>
            </a:r>
            <a:r>
              <a:rPr lang="en-US" altLang="zh-CN" dirty="0"/>
              <a:t>B+</a:t>
            </a:r>
            <a:r>
              <a:rPr lang="zh-CN" altLang="en-US" dirty="0"/>
              <a:t>树的内部节点共</a:t>
            </a:r>
            <a:r>
              <a:rPr lang="en-US" altLang="zh-CN" dirty="0"/>
              <a:t>N</a:t>
            </a:r>
            <a:r>
              <a:rPr lang="zh-CN" altLang="en-US" dirty="0"/>
              <a:t>个键值，将键值分为</a:t>
            </a:r>
            <a:r>
              <a:rPr lang="en-US" altLang="zh-CN" dirty="0"/>
              <a:t>N+1</a:t>
            </a:r>
            <a:r>
              <a:rPr lang="zh-CN" altLang="en-US" dirty="0"/>
              <a:t>个区间</a:t>
            </a:r>
            <a:endParaRPr lang="en-US" altLang="zh-CN" dirty="0"/>
          </a:p>
          <a:p>
            <a:r>
              <a:rPr lang="en-US" altLang="zh-CN" dirty="0"/>
              <a:t>N+1</a:t>
            </a:r>
            <a:r>
              <a:rPr lang="zh-CN" altLang="en-US" dirty="0"/>
              <a:t>个区间对应</a:t>
            </a:r>
            <a:r>
              <a:rPr lang="en-US" altLang="zh-CN" dirty="0"/>
              <a:t>N+1</a:t>
            </a:r>
            <a:r>
              <a:rPr lang="zh-CN" altLang="en-US" dirty="0"/>
              <a:t>个儿子节点</a:t>
            </a:r>
            <a:endParaRPr lang="en-US" altLang="zh-CN" dirty="0"/>
          </a:p>
          <a:p>
            <a:endParaRPr lang="zh-CN" altLang="en-US" dirty="0"/>
          </a:p>
        </p:txBody>
      </p:sp>
      <p:pic>
        <p:nvPicPr>
          <p:cNvPr id="11" name="图片 10">
            <a:extLst>
              <a:ext uri="{FF2B5EF4-FFF2-40B4-BE49-F238E27FC236}">
                <a16:creationId xmlns:a16="http://schemas.microsoft.com/office/drawing/2014/main" id="{44DFB630-41A7-DC97-549F-F8C72A7C3300}"/>
              </a:ext>
            </a:extLst>
          </p:cNvPr>
          <p:cNvPicPr>
            <a:picLocks noChangeAspect="1"/>
          </p:cNvPicPr>
          <p:nvPr/>
        </p:nvPicPr>
        <p:blipFill>
          <a:blip r:embed="rId2"/>
          <a:stretch>
            <a:fillRect/>
          </a:stretch>
        </p:blipFill>
        <p:spPr>
          <a:xfrm>
            <a:off x="0" y="2652214"/>
            <a:ext cx="8322365" cy="2845899"/>
          </a:xfrm>
          <a:prstGeom prst="rect">
            <a:avLst/>
          </a:prstGeom>
        </p:spPr>
      </p:pic>
    </p:spTree>
    <p:extLst>
      <p:ext uri="{BB962C8B-B14F-4D97-AF65-F5344CB8AC3E}">
        <p14:creationId xmlns:p14="http://schemas.microsoft.com/office/powerpoint/2010/main" val="3552838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57B4A-CF67-5F43-5E1D-72A215872121}"/>
              </a:ext>
            </a:extLst>
          </p:cNvPr>
          <p:cNvSpPr>
            <a:spLocks noGrp="1"/>
          </p:cNvSpPr>
          <p:nvPr>
            <p:ph type="title"/>
          </p:nvPr>
        </p:nvSpPr>
        <p:spPr>
          <a:xfrm>
            <a:off x="0" y="61732"/>
            <a:ext cx="10515600" cy="1325563"/>
          </a:xfrm>
        </p:spPr>
        <p:txBody>
          <a:bodyPr/>
          <a:lstStyle/>
          <a:p>
            <a:r>
              <a:rPr lang="en-US" altLang="zh-CN" dirty="0"/>
              <a:t>Leaf Page</a:t>
            </a:r>
            <a:endParaRPr lang="zh-CN" altLang="en-US" dirty="0"/>
          </a:p>
        </p:txBody>
      </p:sp>
      <p:sp>
        <p:nvSpPr>
          <p:cNvPr id="7" name="内容占位符 2">
            <a:extLst>
              <a:ext uri="{FF2B5EF4-FFF2-40B4-BE49-F238E27FC236}">
                <a16:creationId xmlns:a16="http://schemas.microsoft.com/office/drawing/2014/main" id="{21E0486A-4CB4-04BB-F854-802D080FA5C8}"/>
              </a:ext>
            </a:extLst>
          </p:cNvPr>
          <p:cNvSpPr txBox="1">
            <a:spLocks/>
          </p:cNvSpPr>
          <p:nvPr/>
        </p:nvSpPr>
        <p:spPr>
          <a:xfrm>
            <a:off x="0" y="1447938"/>
            <a:ext cx="8090452" cy="566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N</a:t>
            </a:r>
            <a:r>
              <a:rPr lang="zh-CN" altLang="en-US" dirty="0"/>
              <a:t>阶</a:t>
            </a:r>
            <a:r>
              <a:rPr lang="en-US" altLang="zh-CN" dirty="0"/>
              <a:t>B+</a:t>
            </a:r>
            <a:r>
              <a:rPr lang="zh-CN" altLang="en-US" dirty="0"/>
              <a:t>树的叶子节点共</a:t>
            </a:r>
            <a:r>
              <a:rPr lang="en-US" altLang="zh-CN" dirty="0"/>
              <a:t>N</a:t>
            </a:r>
            <a:r>
              <a:rPr lang="zh-CN" altLang="en-US" dirty="0"/>
              <a:t>个键值，对应</a:t>
            </a:r>
            <a:r>
              <a:rPr lang="en-US" altLang="zh-CN" dirty="0"/>
              <a:t>N</a:t>
            </a:r>
            <a:r>
              <a:rPr lang="zh-CN" altLang="en-US" dirty="0"/>
              <a:t>个</a:t>
            </a:r>
            <a:r>
              <a:rPr lang="en-US" altLang="zh-CN" dirty="0"/>
              <a:t>KV</a:t>
            </a:r>
            <a:r>
              <a:rPr lang="zh-CN" altLang="en-US" dirty="0"/>
              <a:t>对</a:t>
            </a:r>
            <a:endParaRPr lang="en-US" altLang="zh-CN" dirty="0"/>
          </a:p>
          <a:p>
            <a:endParaRPr lang="zh-CN" altLang="en-US" dirty="0"/>
          </a:p>
        </p:txBody>
      </p:sp>
      <p:pic>
        <p:nvPicPr>
          <p:cNvPr id="4" name="图片 3">
            <a:extLst>
              <a:ext uri="{FF2B5EF4-FFF2-40B4-BE49-F238E27FC236}">
                <a16:creationId xmlns:a16="http://schemas.microsoft.com/office/drawing/2014/main" id="{518153A4-C093-1014-D1DF-C47D382A2F10}"/>
              </a:ext>
            </a:extLst>
          </p:cNvPr>
          <p:cNvPicPr>
            <a:picLocks noChangeAspect="1"/>
          </p:cNvPicPr>
          <p:nvPr/>
        </p:nvPicPr>
        <p:blipFill>
          <a:blip r:embed="rId2"/>
          <a:stretch>
            <a:fillRect/>
          </a:stretch>
        </p:blipFill>
        <p:spPr>
          <a:xfrm>
            <a:off x="0" y="2074973"/>
            <a:ext cx="7074176" cy="4032280"/>
          </a:xfrm>
          <a:prstGeom prst="rect">
            <a:avLst/>
          </a:prstGeom>
        </p:spPr>
      </p:pic>
    </p:spTree>
    <p:extLst>
      <p:ext uri="{BB962C8B-B14F-4D97-AF65-F5344CB8AC3E}">
        <p14:creationId xmlns:p14="http://schemas.microsoft.com/office/powerpoint/2010/main" val="1615114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2.B+</a:t>
            </a:r>
            <a:r>
              <a:rPr lang="zh-CN" altLang="en-US" dirty="0"/>
              <a:t>树的结构特点</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p:txBody>
          <a:bodyPr/>
          <a:lstStyle/>
          <a:p>
            <a:r>
              <a:rPr lang="zh-CN" altLang="en-US" dirty="0"/>
              <a:t>完全平衡树</a:t>
            </a:r>
            <a:r>
              <a:rPr lang="en-US" altLang="zh-CN" dirty="0"/>
              <a:t>-</a:t>
            </a:r>
            <a:r>
              <a:rPr lang="zh-CN" altLang="en-US" dirty="0"/>
              <a:t>所有叶子节点的高度相同</a:t>
            </a:r>
            <a:endParaRPr lang="en-US" altLang="zh-CN" dirty="0"/>
          </a:p>
          <a:p>
            <a:r>
              <a:rPr lang="zh-CN" altLang="en-US" dirty="0"/>
              <a:t>所有数据只存储在叶子节点</a:t>
            </a:r>
            <a:endParaRPr lang="en-US" altLang="zh-CN" dirty="0"/>
          </a:p>
          <a:p>
            <a:r>
              <a:rPr lang="zh-CN" altLang="en-US" dirty="0"/>
              <a:t>内部节点仅作为索引</a:t>
            </a:r>
            <a:endParaRPr lang="en-US" altLang="zh-CN" dirty="0"/>
          </a:p>
          <a:p>
            <a:r>
              <a:rPr lang="zh-CN" altLang="en-US" dirty="0"/>
              <a:t>叶子节点通过链表连接</a:t>
            </a:r>
            <a:r>
              <a:rPr lang="en-US" altLang="zh-CN" dirty="0"/>
              <a:t>-</a:t>
            </a:r>
            <a:r>
              <a:rPr lang="zh-CN" altLang="en-US" dirty="0"/>
              <a:t>可以顺序访问</a:t>
            </a:r>
          </a:p>
        </p:txBody>
      </p:sp>
    </p:spTree>
    <p:extLst>
      <p:ext uri="{BB962C8B-B14F-4D97-AF65-F5344CB8AC3E}">
        <p14:creationId xmlns:p14="http://schemas.microsoft.com/office/powerpoint/2010/main" val="2817802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3.B+</a:t>
            </a:r>
            <a:r>
              <a:rPr lang="zh-CN" altLang="en-US" dirty="0"/>
              <a:t>树的查询</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5"/>
            <a:ext cx="3786809" cy="3727036"/>
          </a:xfrm>
        </p:spPr>
        <p:txBody>
          <a:bodyPr>
            <a:normAutofit/>
          </a:bodyPr>
          <a:lstStyle/>
          <a:p>
            <a:r>
              <a:rPr lang="zh-CN" altLang="en-US" sz="1800" dirty="0"/>
              <a:t>以查找</a:t>
            </a:r>
            <a:r>
              <a:rPr lang="en-US" altLang="zh-CN" sz="1800" dirty="0"/>
              <a:t>9</a:t>
            </a:r>
            <a:r>
              <a:rPr lang="zh-CN" altLang="en-US" sz="1800" dirty="0"/>
              <a:t>为例</a:t>
            </a:r>
            <a:endParaRPr lang="en-US" altLang="zh-CN" sz="1800" dirty="0"/>
          </a:p>
          <a:p>
            <a:r>
              <a:rPr lang="en-US" altLang="zh-CN" sz="1800" dirty="0"/>
              <a:t>1.</a:t>
            </a:r>
            <a:r>
              <a:rPr lang="zh-CN" altLang="en-US" sz="1800" dirty="0"/>
              <a:t>首先从根节点出发，如果是内部节点，就二分找到第一个键值大于等于所需键值</a:t>
            </a:r>
            <a:r>
              <a:rPr lang="en-US" altLang="zh-CN" sz="1800" dirty="0"/>
              <a:t>9</a:t>
            </a:r>
            <a:r>
              <a:rPr lang="zh-CN" altLang="en-US" sz="1800" dirty="0"/>
              <a:t>的儿子节点</a:t>
            </a:r>
            <a:endParaRPr lang="en-US" altLang="zh-CN" sz="1800" dirty="0"/>
          </a:p>
          <a:p>
            <a:r>
              <a:rPr lang="en-US" altLang="zh-CN" sz="1800" dirty="0"/>
              <a:t>2.</a:t>
            </a:r>
            <a:r>
              <a:rPr lang="zh-CN" altLang="en-US" sz="1800" dirty="0"/>
              <a:t>如果是内部节点，继续重复步骤</a:t>
            </a:r>
            <a:r>
              <a:rPr lang="en-US" altLang="zh-CN" sz="1800" dirty="0"/>
              <a:t>1</a:t>
            </a:r>
          </a:p>
          <a:p>
            <a:r>
              <a:rPr lang="zh-CN" altLang="en-US" sz="1800" dirty="0"/>
              <a:t>如果是叶子节点，二分查找第一个键值大于等于所需键值</a:t>
            </a:r>
            <a:r>
              <a:rPr lang="en-US" altLang="zh-CN" sz="1800" dirty="0"/>
              <a:t>9</a:t>
            </a:r>
            <a:r>
              <a:rPr lang="zh-CN" altLang="en-US" sz="1800" dirty="0"/>
              <a:t>的</a:t>
            </a:r>
            <a:r>
              <a:rPr lang="en-US" altLang="zh-CN" sz="1800" dirty="0"/>
              <a:t>KV</a:t>
            </a:r>
            <a:r>
              <a:rPr lang="zh-CN" altLang="en-US" sz="1800" dirty="0"/>
              <a:t>对，如果找到的键值不等于所需键值</a:t>
            </a:r>
            <a:r>
              <a:rPr lang="en-US" altLang="zh-CN" sz="1800" dirty="0"/>
              <a:t>9</a:t>
            </a:r>
            <a:r>
              <a:rPr lang="zh-CN" altLang="en-US" sz="1800" dirty="0"/>
              <a:t>，则返回</a:t>
            </a:r>
            <a:r>
              <a:rPr lang="en-US" altLang="zh-CN" sz="1800" dirty="0"/>
              <a:t>false</a:t>
            </a:r>
            <a:r>
              <a:rPr lang="zh-CN" altLang="en-US" sz="1800" dirty="0"/>
              <a:t>。否则返回</a:t>
            </a:r>
            <a:r>
              <a:rPr lang="en-US" altLang="zh-CN" sz="1800" dirty="0"/>
              <a:t>true</a:t>
            </a:r>
            <a:r>
              <a:rPr lang="zh-CN" altLang="en-US" sz="1800" dirty="0"/>
              <a:t>。</a:t>
            </a:r>
          </a:p>
        </p:txBody>
      </p:sp>
      <p:pic>
        <p:nvPicPr>
          <p:cNvPr id="5" name="图片 4">
            <a:extLst>
              <a:ext uri="{FF2B5EF4-FFF2-40B4-BE49-F238E27FC236}">
                <a16:creationId xmlns:a16="http://schemas.microsoft.com/office/drawing/2014/main" id="{795B84D3-EFCF-23AF-B20D-E5306EE3CE22}"/>
              </a:ext>
            </a:extLst>
          </p:cNvPr>
          <p:cNvPicPr>
            <a:picLocks noChangeAspect="1"/>
          </p:cNvPicPr>
          <p:nvPr/>
        </p:nvPicPr>
        <p:blipFill>
          <a:blip r:embed="rId2"/>
          <a:stretch>
            <a:fillRect/>
          </a:stretch>
        </p:blipFill>
        <p:spPr>
          <a:xfrm>
            <a:off x="5136254" y="1184550"/>
            <a:ext cx="5457825" cy="2324100"/>
          </a:xfrm>
          <a:prstGeom prst="rect">
            <a:avLst/>
          </a:prstGeom>
        </p:spPr>
      </p:pic>
      <p:sp>
        <p:nvSpPr>
          <p:cNvPr id="6" name="矩形 5">
            <a:extLst>
              <a:ext uri="{FF2B5EF4-FFF2-40B4-BE49-F238E27FC236}">
                <a16:creationId xmlns:a16="http://schemas.microsoft.com/office/drawing/2014/main" id="{D64D6D5D-1B0C-6672-0443-8D3F90EECF29}"/>
              </a:ext>
            </a:extLst>
          </p:cNvPr>
          <p:cNvSpPr/>
          <p:nvPr/>
        </p:nvSpPr>
        <p:spPr>
          <a:xfrm>
            <a:off x="7865166" y="1457739"/>
            <a:ext cx="139147" cy="2981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a:extLst>
              <a:ext uri="{FF2B5EF4-FFF2-40B4-BE49-F238E27FC236}">
                <a16:creationId xmlns:a16="http://schemas.microsoft.com/office/drawing/2014/main" id="{2FB9B324-1A65-85E5-9778-28EB9DAF682E}"/>
              </a:ext>
            </a:extLst>
          </p:cNvPr>
          <p:cNvSpPr/>
          <p:nvPr/>
        </p:nvSpPr>
        <p:spPr>
          <a:xfrm>
            <a:off x="8004313" y="1457739"/>
            <a:ext cx="511245" cy="4571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C4E80D9-8728-E00D-78BE-599EBC98925F}"/>
                  </a:ext>
                </a:extLst>
              </p:cNvPr>
              <p:cNvSpPr txBox="1"/>
              <p:nvPr/>
            </p:nvSpPr>
            <p:spPr>
              <a:xfrm>
                <a:off x="8259935" y="1342658"/>
                <a:ext cx="136839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pitchFamily="18" charset="0"/>
                        </a:rPr>
                        <m:t>9∈</m:t>
                      </m:r>
                      <m:d>
                        <m:dPr>
                          <m:begChr m:val="["/>
                          <m:ctrlPr>
                            <a:rPr lang="en-US" altLang="zh-CN" sz="1200" i="1" dirty="0" smtClean="0">
                              <a:latin typeface="Cambria Math" panose="02040503050406030204" pitchFamily="18" charset="0"/>
                            </a:rPr>
                          </m:ctrlPr>
                        </m:dPr>
                        <m:e>
                          <m:r>
                            <a:rPr lang="en-US" altLang="zh-CN" sz="1200" i="1" dirty="0" smtClean="0">
                              <a:latin typeface="Cambria Math" panose="02040503050406030204" pitchFamily="18" charset="0"/>
                            </a:rPr>
                            <m:t>5,+∞</m:t>
                          </m:r>
                        </m:e>
                      </m:d>
                    </m:oMath>
                  </m:oMathPara>
                </a14:m>
                <a:endParaRPr lang="zh-CN" altLang="en-US" sz="1200" dirty="0"/>
              </a:p>
            </p:txBody>
          </p:sp>
        </mc:Choice>
        <mc:Fallback xmlns="">
          <p:sp>
            <p:nvSpPr>
              <p:cNvPr id="9" name="文本框 8">
                <a:extLst>
                  <a:ext uri="{FF2B5EF4-FFF2-40B4-BE49-F238E27FC236}">
                    <a16:creationId xmlns:a16="http://schemas.microsoft.com/office/drawing/2014/main" id="{FC4E80D9-8728-E00D-78BE-599EBC98925F}"/>
                  </a:ext>
                </a:extLst>
              </p:cNvPr>
              <p:cNvSpPr txBox="1">
                <a:spLocks noRot="1" noChangeAspect="1" noMove="1" noResize="1" noEditPoints="1" noAdjustHandles="1" noChangeArrowheads="1" noChangeShapeType="1" noTextEdit="1"/>
              </p:cNvSpPr>
              <p:nvPr/>
            </p:nvSpPr>
            <p:spPr>
              <a:xfrm>
                <a:off x="8259935" y="1342658"/>
                <a:ext cx="1368390" cy="276999"/>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F3EE0EF9-83AE-124E-DDA4-C9CEAE120365}"/>
              </a:ext>
            </a:extLst>
          </p:cNvPr>
          <p:cNvSpPr/>
          <p:nvPr/>
        </p:nvSpPr>
        <p:spPr>
          <a:xfrm>
            <a:off x="8402915" y="2162347"/>
            <a:ext cx="205408" cy="29154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C56417EE-52B7-8E08-C7BD-23D90F6E589A}"/>
              </a:ext>
            </a:extLst>
          </p:cNvPr>
          <p:cNvSpPr/>
          <p:nvPr/>
        </p:nvSpPr>
        <p:spPr>
          <a:xfrm rot="19984381">
            <a:off x="8553866" y="1995296"/>
            <a:ext cx="511245" cy="4571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6EB1360-AEA6-D7C2-2E06-86D7F6C8E8DA}"/>
                  </a:ext>
                </a:extLst>
              </p:cNvPr>
              <p:cNvSpPr txBox="1"/>
              <p:nvPr/>
            </p:nvSpPr>
            <p:spPr>
              <a:xfrm>
                <a:off x="8809488" y="1761875"/>
                <a:ext cx="136839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pitchFamily="18" charset="0"/>
                        </a:rPr>
                        <m:t>9∈</m:t>
                      </m:r>
                      <m:d>
                        <m:dPr>
                          <m:begChr m:val="["/>
                          <m:ctrlPr>
                            <a:rPr lang="en-US" altLang="zh-CN" sz="1200" i="1" dirty="0" smtClean="0">
                              <a:latin typeface="Cambria Math" panose="02040503050406030204" pitchFamily="18" charset="0"/>
                            </a:rPr>
                          </m:ctrlPr>
                        </m:dPr>
                        <m:e>
                          <m:r>
                            <a:rPr lang="en-US" altLang="zh-CN" sz="1200" b="0" i="1" dirty="0" smtClean="0">
                              <a:latin typeface="Cambria Math" panose="02040503050406030204" pitchFamily="18" charset="0"/>
                            </a:rPr>
                            <m:t>9</m:t>
                          </m:r>
                          <m:r>
                            <a:rPr lang="en-US" altLang="zh-CN" sz="1200" i="1" dirty="0" smtClean="0">
                              <a:latin typeface="Cambria Math" panose="02040503050406030204" pitchFamily="18" charset="0"/>
                            </a:rPr>
                            <m:t>,</m:t>
                          </m:r>
                          <m:r>
                            <a:rPr lang="en-US" altLang="zh-CN" sz="1200" b="0" i="1" dirty="0" smtClean="0">
                              <a:latin typeface="Cambria Math" panose="02040503050406030204" pitchFamily="18" charset="0"/>
                            </a:rPr>
                            <m:t>13</m:t>
                          </m:r>
                        </m:e>
                      </m:d>
                    </m:oMath>
                  </m:oMathPara>
                </a14:m>
                <a:endParaRPr lang="zh-CN" altLang="en-US" sz="1200" dirty="0"/>
              </a:p>
            </p:txBody>
          </p:sp>
        </mc:Choice>
        <mc:Fallback xmlns="">
          <p:sp>
            <p:nvSpPr>
              <p:cNvPr id="12" name="文本框 11">
                <a:extLst>
                  <a:ext uri="{FF2B5EF4-FFF2-40B4-BE49-F238E27FC236}">
                    <a16:creationId xmlns:a16="http://schemas.microsoft.com/office/drawing/2014/main" id="{26EB1360-AEA6-D7C2-2E06-86D7F6C8E8DA}"/>
                  </a:ext>
                </a:extLst>
              </p:cNvPr>
              <p:cNvSpPr txBox="1">
                <a:spLocks noRot="1" noChangeAspect="1" noMove="1" noResize="1" noEditPoints="1" noAdjustHandles="1" noChangeArrowheads="1" noChangeShapeType="1" noTextEdit="1"/>
              </p:cNvSpPr>
              <p:nvPr/>
            </p:nvSpPr>
            <p:spPr>
              <a:xfrm>
                <a:off x="8809488" y="1761875"/>
                <a:ext cx="1368390" cy="276999"/>
              </a:xfrm>
              <a:prstGeom prst="rect">
                <a:avLst/>
              </a:prstGeom>
              <a:blipFill>
                <a:blip r:embed="rId4"/>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5D2E5A3F-E046-DFC7-1C54-E4A7428AE062}"/>
              </a:ext>
            </a:extLst>
          </p:cNvPr>
          <p:cNvSpPr/>
          <p:nvPr/>
        </p:nvSpPr>
        <p:spPr>
          <a:xfrm>
            <a:off x="7934739" y="2869096"/>
            <a:ext cx="580819" cy="29154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69564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4.B+</a:t>
            </a:r>
            <a:r>
              <a:rPr lang="zh-CN" altLang="en-US" dirty="0"/>
              <a:t>树的插入</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fontScale="92500"/>
          </a:bodyPr>
          <a:lstStyle/>
          <a:p>
            <a:r>
              <a:rPr lang="zh-CN" altLang="en-US" sz="1800" dirty="0"/>
              <a:t>以插入</a:t>
            </a:r>
            <a:r>
              <a:rPr lang="en-US" altLang="zh-CN" sz="1800" dirty="0"/>
              <a:t>30</a:t>
            </a:r>
            <a:r>
              <a:rPr lang="zh-CN" altLang="en-US" sz="1800" dirty="0"/>
              <a:t>为例</a:t>
            </a:r>
            <a:endParaRPr lang="en-US" altLang="zh-CN" sz="1800" dirty="0"/>
          </a:p>
          <a:p>
            <a:r>
              <a:rPr lang="zh-CN" altLang="en-US" sz="1800" dirty="0"/>
              <a:t>根据查询逻辑，找到叶子节点中包含所需键值的节点，然后二分找到需要插入的位置，调用插入操作。</a:t>
            </a:r>
            <a:endParaRPr lang="en-US" altLang="zh-CN" sz="1800" dirty="0"/>
          </a:p>
          <a:p>
            <a:r>
              <a:rPr lang="zh-CN" altLang="en-US" sz="1800" dirty="0"/>
              <a:t>如果该节点满，则需要进行分裂操作。如果未满则直接插入后结束。</a:t>
            </a:r>
            <a:endParaRPr lang="en-US" altLang="zh-CN" sz="1800" dirty="0"/>
          </a:p>
          <a:p>
            <a:r>
              <a:rPr lang="en-US" altLang="zh-CN" sz="1800" dirty="0"/>
              <a:t>1.</a:t>
            </a:r>
            <a:r>
              <a:rPr lang="zh-CN" altLang="en-US" sz="1800" dirty="0"/>
              <a:t>叶子节点的分裂：将叶子节点分为两半，选择右边的第一个键值作为新插入的键值插入到父亲节点中。</a:t>
            </a:r>
            <a:endParaRPr lang="en-US" altLang="zh-CN" sz="1800" dirty="0"/>
          </a:p>
          <a:p>
            <a:r>
              <a:rPr lang="en-US" altLang="zh-CN" sz="1800" dirty="0"/>
              <a:t>2.</a:t>
            </a:r>
            <a:r>
              <a:rPr lang="zh-CN" altLang="en-US" sz="1800" dirty="0"/>
              <a:t>内部节点的分裂：将内部节点分成两半，同样选择右边节点的第一个键值作为新插入的键值插入到父亲节点中。此时不同的是分类后的另一半的第一个键值不在右边节点中，而是成为父亲节点新插入的键</a:t>
            </a:r>
            <a:endParaRPr lang="en-US" altLang="zh-CN" sz="1800" dirty="0"/>
          </a:p>
        </p:txBody>
      </p:sp>
      <p:pic>
        <p:nvPicPr>
          <p:cNvPr id="18" name="图片 17">
            <a:extLst>
              <a:ext uri="{FF2B5EF4-FFF2-40B4-BE49-F238E27FC236}">
                <a16:creationId xmlns:a16="http://schemas.microsoft.com/office/drawing/2014/main" id="{307B6B80-9CAD-AA6C-EB96-632C7889FBD8}"/>
              </a:ext>
            </a:extLst>
          </p:cNvPr>
          <p:cNvPicPr>
            <a:picLocks noChangeAspect="1"/>
          </p:cNvPicPr>
          <p:nvPr/>
        </p:nvPicPr>
        <p:blipFill>
          <a:blip r:embed="rId2"/>
          <a:stretch>
            <a:fillRect/>
          </a:stretch>
        </p:blipFill>
        <p:spPr>
          <a:xfrm>
            <a:off x="5971968" y="0"/>
            <a:ext cx="5800725" cy="2295525"/>
          </a:xfrm>
          <a:prstGeom prst="rect">
            <a:avLst/>
          </a:prstGeom>
        </p:spPr>
      </p:pic>
      <p:pic>
        <p:nvPicPr>
          <p:cNvPr id="22" name="图片 21">
            <a:extLst>
              <a:ext uri="{FF2B5EF4-FFF2-40B4-BE49-F238E27FC236}">
                <a16:creationId xmlns:a16="http://schemas.microsoft.com/office/drawing/2014/main" id="{6CACB7B7-8948-9142-14CD-FF9123494F20}"/>
              </a:ext>
            </a:extLst>
          </p:cNvPr>
          <p:cNvPicPr>
            <a:picLocks noChangeAspect="1"/>
          </p:cNvPicPr>
          <p:nvPr/>
        </p:nvPicPr>
        <p:blipFill>
          <a:blip r:embed="rId3"/>
          <a:stretch>
            <a:fillRect/>
          </a:stretch>
        </p:blipFill>
        <p:spPr>
          <a:xfrm>
            <a:off x="5555145" y="2295525"/>
            <a:ext cx="6762750" cy="2533650"/>
          </a:xfrm>
          <a:prstGeom prst="rect">
            <a:avLst/>
          </a:prstGeom>
        </p:spPr>
      </p:pic>
      <p:pic>
        <p:nvPicPr>
          <p:cNvPr id="24" name="图片 23">
            <a:extLst>
              <a:ext uri="{FF2B5EF4-FFF2-40B4-BE49-F238E27FC236}">
                <a16:creationId xmlns:a16="http://schemas.microsoft.com/office/drawing/2014/main" id="{AD271BB7-5165-50F5-3DA7-9C6C9F8B5AD9}"/>
              </a:ext>
            </a:extLst>
          </p:cNvPr>
          <p:cNvPicPr>
            <a:picLocks noChangeAspect="1"/>
          </p:cNvPicPr>
          <p:nvPr/>
        </p:nvPicPr>
        <p:blipFill>
          <a:blip r:embed="rId4"/>
          <a:stretch>
            <a:fillRect/>
          </a:stretch>
        </p:blipFill>
        <p:spPr>
          <a:xfrm>
            <a:off x="5842552" y="4323936"/>
            <a:ext cx="5715000" cy="2457450"/>
          </a:xfrm>
          <a:prstGeom prst="rect">
            <a:avLst/>
          </a:prstGeom>
        </p:spPr>
      </p:pic>
    </p:spTree>
    <p:extLst>
      <p:ext uri="{BB962C8B-B14F-4D97-AF65-F5344CB8AC3E}">
        <p14:creationId xmlns:p14="http://schemas.microsoft.com/office/powerpoint/2010/main" val="512871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5.B+</a:t>
            </a:r>
            <a:r>
              <a:rPr lang="zh-CN" altLang="en-US" dirty="0"/>
              <a:t>树的删除</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1" dirty="0"/>
              <a:t>情况一：可以直接删除</a:t>
            </a:r>
            <a:endParaRPr lang="en-US" altLang="zh-CN" sz="1800" b="1" dirty="0"/>
          </a:p>
          <a:p>
            <a:r>
              <a:rPr lang="en-US" altLang="zh-CN" sz="1800" b="0" i="0" dirty="0">
                <a:solidFill>
                  <a:srgbClr val="333333"/>
                </a:solidFill>
                <a:effectLst/>
                <a:latin typeface="OpenSans-Regular"/>
              </a:rPr>
              <a:t>1. </a:t>
            </a:r>
            <a:r>
              <a:rPr lang="zh-CN" altLang="en-US" sz="1800" b="0" i="0" dirty="0">
                <a:solidFill>
                  <a:srgbClr val="333333"/>
                </a:solidFill>
                <a:effectLst/>
                <a:latin typeface="PingFangSC-Regular-Identity-H"/>
              </a:rPr>
              <a:t>找到包含要删除键的节点。</a:t>
            </a:r>
          </a:p>
          <a:p>
            <a:r>
              <a:rPr lang="en-US" altLang="zh-CN" sz="1800" b="0" i="0" dirty="0">
                <a:solidFill>
                  <a:srgbClr val="333333"/>
                </a:solidFill>
                <a:effectLst/>
                <a:latin typeface="OpenSans-Regular"/>
              </a:rPr>
              <a:t>2. </a:t>
            </a:r>
            <a:r>
              <a:rPr lang="zh-CN" altLang="en-US" sz="1800" b="0" i="0" dirty="0">
                <a:solidFill>
                  <a:srgbClr val="333333"/>
                </a:solidFill>
                <a:effectLst/>
                <a:latin typeface="PingFangSC-Regular-Identity-H"/>
              </a:rPr>
              <a:t>从节点中删除该键。</a:t>
            </a:r>
          </a:p>
          <a:p>
            <a:r>
              <a:rPr lang="en-US" altLang="zh-CN" sz="1800" b="0" i="0" dirty="0">
                <a:solidFill>
                  <a:srgbClr val="333333"/>
                </a:solidFill>
                <a:effectLst/>
                <a:latin typeface="OpenSans-Regular"/>
              </a:rPr>
              <a:t>3. </a:t>
            </a:r>
            <a:r>
              <a:rPr lang="zh-CN" altLang="en-US" sz="1800" b="0" i="0" dirty="0">
                <a:solidFill>
                  <a:srgbClr val="333333"/>
                </a:solidFill>
                <a:effectLst/>
                <a:latin typeface="PingFangSC-Regular-Identity-H"/>
              </a:rPr>
              <a:t>删除后，节点的键的数量仍然大于最⼩允许数量，可直接删除后保持平衡</a:t>
            </a:r>
            <a:br>
              <a:rPr lang="zh-CN" altLang="en-US" sz="1200" dirty="0"/>
            </a:br>
            <a:endParaRPr lang="en-US" altLang="zh-CN" sz="1800" dirty="0"/>
          </a:p>
        </p:txBody>
      </p:sp>
      <p:pic>
        <p:nvPicPr>
          <p:cNvPr id="7" name="图片 6">
            <a:extLst>
              <a:ext uri="{FF2B5EF4-FFF2-40B4-BE49-F238E27FC236}">
                <a16:creationId xmlns:a16="http://schemas.microsoft.com/office/drawing/2014/main" id="{FD511645-804D-8F6A-4DD8-9909DEBF8929}"/>
              </a:ext>
            </a:extLst>
          </p:cNvPr>
          <p:cNvPicPr>
            <a:picLocks noChangeAspect="1"/>
          </p:cNvPicPr>
          <p:nvPr/>
        </p:nvPicPr>
        <p:blipFill>
          <a:blip r:embed="rId2"/>
          <a:stretch>
            <a:fillRect/>
          </a:stretch>
        </p:blipFill>
        <p:spPr>
          <a:xfrm>
            <a:off x="5727009" y="294447"/>
            <a:ext cx="6038850" cy="2266950"/>
          </a:xfrm>
          <a:prstGeom prst="rect">
            <a:avLst/>
          </a:prstGeom>
        </p:spPr>
      </p:pic>
      <p:sp>
        <p:nvSpPr>
          <p:cNvPr id="9" name="箭头: 下 8">
            <a:extLst>
              <a:ext uri="{FF2B5EF4-FFF2-40B4-BE49-F238E27FC236}">
                <a16:creationId xmlns:a16="http://schemas.microsoft.com/office/drawing/2014/main" id="{5DA0C2D0-B918-C50E-00FA-3CB1C96EB54A}"/>
              </a:ext>
            </a:extLst>
          </p:cNvPr>
          <p:cNvSpPr/>
          <p:nvPr/>
        </p:nvSpPr>
        <p:spPr>
          <a:xfrm>
            <a:off x="8222973" y="2632075"/>
            <a:ext cx="662609" cy="894522"/>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D1199278-6B37-523D-56C8-7BC344150D30}"/>
              </a:ext>
            </a:extLst>
          </p:cNvPr>
          <p:cNvPicPr>
            <a:picLocks noChangeAspect="1"/>
          </p:cNvPicPr>
          <p:nvPr/>
        </p:nvPicPr>
        <p:blipFill>
          <a:blip r:embed="rId3"/>
          <a:stretch>
            <a:fillRect/>
          </a:stretch>
        </p:blipFill>
        <p:spPr>
          <a:xfrm>
            <a:off x="5727009" y="3643934"/>
            <a:ext cx="5438775" cy="2419350"/>
          </a:xfrm>
          <a:prstGeom prst="rect">
            <a:avLst/>
          </a:prstGeom>
        </p:spPr>
      </p:pic>
    </p:spTree>
    <p:extLst>
      <p:ext uri="{BB962C8B-B14F-4D97-AF65-F5344CB8AC3E}">
        <p14:creationId xmlns:p14="http://schemas.microsoft.com/office/powerpoint/2010/main" val="311281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5.B+</a:t>
            </a:r>
            <a:r>
              <a:rPr lang="zh-CN" altLang="en-US" dirty="0"/>
              <a:t>树的删除</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1" dirty="0"/>
              <a:t>情况二：叶子节点删除后需要进行偷取</a:t>
            </a:r>
            <a:endParaRPr lang="en-US" altLang="zh-CN" sz="1800" b="1" dirty="0"/>
          </a:p>
          <a:p>
            <a:r>
              <a:rPr lang="zh-CN" altLang="en-US" sz="1800" b="0" i="0" dirty="0">
                <a:solidFill>
                  <a:srgbClr val="333333"/>
                </a:solidFill>
                <a:effectLst/>
                <a:latin typeface="OpenSans-Regular"/>
              </a:rPr>
              <a:t>如果左右兄弟节点的键数量大于最小允许数量，可以偷取一个，结束，然后修改两者之间父节点的键值。</a:t>
            </a:r>
            <a:br>
              <a:rPr lang="zh-CN" altLang="en-US" sz="1200" dirty="0"/>
            </a:br>
            <a:endParaRPr lang="en-US" altLang="zh-CN" sz="1800" dirty="0"/>
          </a:p>
        </p:txBody>
      </p:sp>
      <p:pic>
        <p:nvPicPr>
          <p:cNvPr id="7" name="图片 6">
            <a:extLst>
              <a:ext uri="{FF2B5EF4-FFF2-40B4-BE49-F238E27FC236}">
                <a16:creationId xmlns:a16="http://schemas.microsoft.com/office/drawing/2014/main" id="{FD511645-804D-8F6A-4DD8-9909DEBF8929}"/>
              </a:ext>
            </a:extLst>
          </p:cNvPr>
          <p:cNvPicPr>
            <a:picLocks noChangeAspect="1"/>
          </p:cNvPicPr>
          <p:nvPr/>
        </p:nvPicPr>
        <p:blipFill>
          <a:blip r:embed="rId2"/>
          <a:stretch>
            <a:fillRect/>
          </a:stretch>
        </p:blipFill>
        <p:spPr>
          <a:xfrm>
            <a:off x="6389618" y="42656"/>
            <a:ext cx="4927739" cy="1849845"/>
          </a:xfrm>
          <a:prstGeom prst="rect">
            <a:avLst/>
          </a:prstGeom>
        </p:spPr>
      </p:pic>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E520661-0D28-20E6-C535-33430545F6B4}"/>
              </a:ext>
            </a:extLst>
          </p:cNvPr>
          <p:cNvPicPr>
            <a:picLocks noChangeAspect="1"/>
          </p:cNvPicPr>
          <p:nvPr/>
        </p:nvPicPr>
        <p:blipFill>
          <a:blip r:embed="rId3"/>
          <a:stretch>
            <a:fillRect/>
          </a:stretch>
        </p:blipFill>
        <p:spPr>
          <a:xfrm>
            <a:off x="6532288" y="2299252"/>
            <a:ext cx="4697896" cy="1904989"/>
          </a:xfrm>
          <a:prstGeom prst="rect">
            <a:avLst/>
          </a:prstGeom>
        </p:spPr>
      </p:pic>
      <p:pic>
        <p:nvPicPr>
          <p:cNvPr id="8" name="图片 7">
            <a:extLst>
              <a:ext uri="{FF2B5EF4-FFF2-40B4-BE49-F238E27FC236}">
                <a16:creationId xmlns:a16="http://schemas.microsoft.com/office/drawing/2014/main" id="{ACB75230-BD0E-5805-911A-74691AD28137}"/>
              </a:ext>
            </a:extLst>
          </p:cNvPr>
          <p:cNvPicPr>
            <a:picLocks noChangeAspect="1"/>
          </p:cNvPicPr>
          <p:nvPr/>
        </p:nvPicPr>
        <p:blipFill>
          <a:blip r:embed="rId4"/>
          <a:stretch>
            <a:fillRect/>
          </a:stretch>
        </p:blipFill>
        <p:spPr>
          <a:xfrm>
            <a:off x="6459920" y="4721501"/>
            <a:ext cx="4787133" cy="2093843"/>
          </a:xfrm>
          <a:prstGeom prst="rect">
            <a:avLst/>
          </a:prstGeom>
        </p:spPr>
      </p:pic>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3105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5.B+</a:t>
            </a:r>
            <a:r>
              <a:rPr lang="zh-CN" altLang="en-US" dirty="0"/>
              <a:t>树的删除</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1" dirty="0"/>
              <a:t>情况三：叶子节点删除后需要进行合并</a:t>
            </a:r>
            <a:endParaRPr lang="en-US" altLang="zh-CN" sz="1800" b="1" dirty="0"/>
          </a:p>
          <a:p>
            <a:r>
              <a:rPr lang="zh-CN" altLang="en-US" sz="1800" b="0" i="0" dirty="0">
                <a:solidFill>
                  <a:srgbClr val="333333"/>
                </a:solidFill>
                <a:effectLst/>
                <a:latin typeface="OpenSans-Regular"/>
              </a:rPr>
              <a:t>如果左右兄弟节点的键数量都恰好等于最小允许数量，选择一个兄弟节点进行合并</a:t>
            </a:r>
            <a:endParaRPr lang="en-US" altLang="zh-CN" sz="1800" b="0" i="0" dirty="0">
              <a:solidFill>
                <a:srgbClr val="333333"/>
              </a:solidFill>
              <a:effectLst/>
              <a:latin typeface="OpenSans-Regular"/>
            </a:endParaRPr>
          </a:p>
          <a:p>
            <a:r>
              <a:rPr lang="zh-CN" altLang="en-US" sz="1800" dirty="0">
                <a:solidFill>
                  <a:srgbClr val="333333"/>
                </a:solidFill>
                <a:latin typeface="OpenSans-Regular"/>
              </a:rPr>
              <a:t>此时会造成父亲节点（内部节点）的键值减少一个，即内部节点的键值删除操作。</a:t>
            </a:r>
            <a:br>
              <a:rPr lang="zh-CN" altLang="en-US" sz="1200" dirty="0"/>
            </a:br>
            <a:endParaRPr lang="en-US" altLang="zh-CN" sz="1800" dirty="0"/>
          </a:p>
        </p:txBody>
      </p:sp>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3353F674-C332-27F6-7683-4F7341E216B3}"/>
              </a:ext>
            </a:extLst>
          </p:cNvPr>
          <p:cNvPicPr>
            <a:picLocks noChangeAspect="1"/>
          </p:cNvPicPr>
          <p:nvPr/>
        </p:nvPicPr>
        <p:blipFill>
          <a:blip r:embed="rId2"/>
          <a:stretch>
            <a:fillRect/>
          </a:stretch>
        </p:blipFill>
        <p:spPr>
          <a:xfrm>
            <a:off x="6096000" y="0"/>
            <a:ext cx="5319713" cy="1820948"/>
          </a:xfrm>
          <a:prstGeom prst="rect">
            <a:avLst/>
          </a:prstGeom>
        </p:spPr>
      </p:pic>
      <p:pic>
        <p:nvPicPr>
          <p:cNvPr id="16" name="图片 15">
            <a:extLst>
              <a:ext uri="{FF2B5EF4-FFF2-40B4-BE49-F238E27FC236}">
                <a16:creationId xmlns:a16="http://schemas.microsoft.com/office/drawing/2014/main" id="{C89132E7-4D4B-0D45-5E57-E10323901AB0}"/>
              </a:ext>
            </a:extLst>
          </p:cNvPr>
          <p:cNvPicPr>
            <a:picLocks noChangeAspect="1"/>
          </p:cNvPicPr>
          <p:nvPr/>
        </p:nvPicPr>
        <p:blipFill>
          <a:blip r:embed="rId3"/>
          <a:stretch>
            <a:fillRect/>
          </a:stretch>
        </p:blipFill>
        <p:spPr>
          <a:xfrm>
            <a:off x="6096000" y="2375933"/>
            <a:ext cx="5630723" cy="1742142"/>
          </a:xfrm>
          <a:prstGeom prst="rect">
            <a:avLst/>
          </a:prstGeom>
        </p:spPr>
      </p:pic>
      <p:pic>
        <p:nvPicPr>
          <p:cNvPr id="18" name="图片 17">
            <a:extLst>
              <a:ext uri="{FF2B5EF4-FFF2-40B4-BE49-F238E27FC236}">
                <a16:creationId xmlns:a16="http://schemas.microsoft.com/office/drawing/2014/main" id="{0CD6F6A8-D171-D6E5-0C81-B62798B6D4A5}"/>
              </a:ext>
            </a:extLst>
          </p:cNvPr>
          <p:cNvPicPr>
            <a:picLocks noChangeAspect="1"/>
          </p:cNvPicPr>
          <p:nvPr/>
        </p:nvPicPr>
        <p:blipFill>
          <a:blip r:embed="rId4"/>
          <a:stretch>
            <a:fillRect/>
          </a:stretch>
        </p:blipFill>
        <p:spPr>
          <a:xfrm>
            <a:off x="6095586" y="4673060"/>
            <a:ext cx="5258214" cy="1762290"/>
          </a:xfrm>
          <a:prstGeom prst="rect">
            <a:avLst/>
          </a:prstGeom>
        </p:spPr>
      </p:pic>
    </p:spTree>
    <p:extLst>
      <p:ext uri="{BB962C8B-B14F-4D97-AF65-F5344CB8AC3E}">
        <p14:creationId xmlns:p14="http://schemas.microsoft.com/office/powerpoint/2010/main" val="3617574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5.B+</a:t>
            </a:r>
            <a:r>
              <a:rPr lang="zh-CN" altLang="en-US" dirty="0"/>
              <a:t>树的删除</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1" dirty="0"/>
              <a:t>情况三：内部节点删除后需要进行偷取</a:t>
            </a:r>
            <a:endParaRPr lang="en-US" altLang="zh-CN" sz="1800" b="1" dirty="0"/>
          </a:p>
          <a:p>
            <a:r>
              <a:rPr lang="zh-CN" altLang="en-US" sz="1800" b="0" i="0" dirty="0">
                <a:solidFill>
                  <a:srgbClr val="333333"/>
                </a:solidFill>
                <a:effectLst/>
                <a:latin typeface="OpenSans-Regular"/>
              </a:rPr>
              <a:t>如果左右兄弟节点的键数量有大于最小允许数量，选择一个兄弟节点进行偷取。</a:t>
            </a:r>
            <a:endParaRPr lang="en-US" altLang="zh-CN" sz="1800" b="0" i="0" dirty="0">
              <a:solidFill>
                <a:srgbClr val="333333"/>
              </a:solidFill>
              <a:effectLst/>
              <a:latin typeface="OpenSans-Regular"/>
            </a:endParaRPr>
          </a:p>
          <a:p>
            <a:r>
              <a:rPr lang="zh-CN" altLang="en-US" sz="1800" dirty="0">
                <a:solidFill>
                  <a:srgbClr val="333333"/>
                </a:solidFill>
                <a:latin typeface="OpenSans-Regular"/>
              </a:rPr>
              <a:t>此时的结果是父亲节点的键值下传，偷取的键值上传至父亲节点。</a:t>
            </a:r>
            <a:br>
              <a:rPr lang="zh-CN" altLang="en-US" sz="1200" dirty="0"/>
            </a:br>
            <a:endParaRPr lang="en-US" altLang="zh-CN" sz="1800" dirty="0"/>
          </a:p>
        </p:txBody>
      </p:sp>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3353F674-C332-27F6-7683-4F7341E216B3}"/>
              </a:ext>
            </a:extLst>
          </p:cNvPr>
          <p:cNvPicPr>
            <a:picLocks noChangeAspect="1"/>
          </p:cNvPicPr>
          <p:nvPr/>
        </p:nvPicPr>
        <p:blipFill>
          <a:blip r:embed="rId2"/>
          <a:stretch>
            <a:fillRect/>
          </a:stretch>
        </p:blipFill>
        <p:spPr>
          <a:xfrm>
            <a:off x="6096000" y="0"/>
            <a:ext cx="5319713" cy="1820948"/>
          </a:xfrm>
          <a:prstGeom prst="rect">
            <a:avLst/>
          </a:prstGeom>
        </p:spPr>
      </p:pic>
      <p:pic>
        <p:nvPicPr>
          <p:cNvPr id="5" name="图片 4">
            <a:extLst>
              <a:ext uri="{FF2B5EF4-FFF2-40B4-BE49-F238E27FC236}">
                <a16:creationId xmlns:a16="http://schemas.microsoft.com/office/drawing/2014/main" id="{A010763A-32DD-72A8-0EE0-4FBF3119C62E}"/>
              </a:ext>
            </a:extLst>
          </p:cNvPr>
          <p:cNvPicPr>
            <a:picLocks noChangeAspect="1"/>
          </p:cNvPicPr>
          <p:nvPr/>
        </p:nvPicPr>
        <p:blipFill>
          <a:blip r:embed="rId3"/>
          <a:stretch>
            <a:fillRect/>
          </a:stretch>
        </p:blipFill>
        <p:spPr>
          <a:xfrm>
            <a:off x="6095586" y="2370805"/>
            <a:ext cx="5194438" cy="1874515"/>
          </a:xfrm>
          <a:prstGeom prst="rect">
            <a:avLst/>
          </a:prstGeom>
        </p:spPr>
      </p:pic>
      <p:pic>
        <p:nvPicPr>
          <p:cNvPr id="7" name="图片 6">
            <a:extLst>
              <a:ext uri="{FF2B5EF4-FFF2-40B4-BE49-F238E27FC236}">
                <a16:creationId xmlns:a16="http://schemas.microsoft.com/office/drawing/2014/main" id="{98B8FAE0-EBBE-E141-D71E-87FDB5862129}"/>
              </a:ext>
            </a:extLst>
          </p:cNvPr>
          <p:cNvPicPr>
            <a:picLocks noChangeAspect="1"/>
          </p:cNvPicPr>
          <p:nvPr/>
        </p:nvPicPr>
        <p:blipFill>
          <a:blip r:embed="rId4"/>
          <a:stretch>
            <a:fillRect/>
          </a:stretch>
        </p:blipFill>
        <p:spPr>
          <a:xfrm>
            <a:off x="5893283" y="4610992"/>
            <a:ext cx="5257800" cy="2124075"/>
          </a:xfrm>
          <a:prstGeom prst="rect">
            <a:avLst/>
          </a:prstGeom>
        </p:spPr>
      </p:pic>
    </p:spTree>
    <p:extLst>
      <p:ext uri="{BB962C8B-B14F-4D97-AF65-F5344CB8AC3E}">
        <p14:creationId xmlns:p14="http://schemas.microsoft.com/office/powerpoint/2010/main" val="3528394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5.B+</a:t>
            </a:r>
            <a:r>
              <a:rPr lang="zh-CN" altLang="en-US" dirty="0"/>
              <a:t>树的删除</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1" dirty="0"/>
              <a:t>情况四：内部节点删除后需要进行合并</a:t>
            </a:r>
            <a:endParaRPr lang="en-US" altLang="zh-CN" sz="1800" b="1" dirty="0"/>
          </a:p>
          <a:p>
            <a:r>
              <a:rPr lang="zh-CN" altLang="en-US" sz="1800" b="0" i="0" dirty="0">
                <a:solidFill>
                  <a:srgbClr val="333333"/>
                </a:solidFill>
                <a:effectLst/>
                <a:latin typeface="OpenSans-Regular"/>
              </a:rPr>
              <a:t>如果左右兄弟节点的键数量都等于最小允许数量，选择一个兄弟节点进行合并</a:t>
            </a:r>
            <a:endParaRPr lang="en-US" altLang="zh-CN" sz="1800" b="0" i="0" dirty="0">
              <a:solidFill>
                <a:srgbClr val="333333"/>
              </a:solidFill>
              <a:effectLst/>
              <a:latin typeface="OpenSans-Regular"/>
            </a:endParaRPr>
          </a:p>
          <a:p>
            <a:r>
              <a:rPr lang="zh-CN" altLang="en-US" sz="1800" dirty="0">
                <a:solidFill>
                  <a:srgbClr val="333333"/>
                </a:solidFill>
                <a:latin typeface="OpenSans-Regular"/>
              </a:rPr>
              <a:t>此时的结果是父亲节点的键值下传。</a:t>
            </a:r>
            <a:endParaRPr lang="en-US" altLang="zh-CN" sz="1800" dirty="0"/>
          </a:p>
        </p:txBody>
      </p:sp>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64D20AAF-0780-E539-32CF-DDD0CE64E52A}"/>
              </a:ext>
            </a:extLst>
          </p:cNvPr>
          <p:cNvPicPr>
            <a:picLocks noChangeAspect="1"/>
          </p:cNvPicPr>
          <p:nvPr/>
        </p:nvPicPr>
        <p:blipFill>
          <a:blip r:embed="rId2"/>
          <a:stretch>
            <a:fillRect/>
          </a:stretch>
        </p:blipFill>
        <p:spPr>
          <a:xfrm>
            <a:off x="6479481" y="0"/>
            <a:ext cx="4548604" cy="1904067"/>
          </a:xfrm>
          <a:prstGeom prst="rect">
            <a:avLst/>
          </a:prstGeom>
        </p:spPr>
      </p:pic>
      <p:pic>
        <p:nvPicPr>
          <p:cNvPr id="16" name="图片 15">
            <a:extLst>
              <a:ext uri="{FF2B5EF4-FFF2-40B4-BE49-F238E27FC236}">
                <a16:creationId xmlns:a16="http://schemas.microsoft.com/office/drawing/2014/main" id="{92FE504E-99CD-F287-7723-01B0E29517A3}"/>
              </a:ext>
            </a:extLst>
          </p:cNvPr>
          <p:cNvPicPr>
            <a:picLocks noChangeAspect="1"/>
          </p:cNvPicPr>
          <p:nvPr/>
        </p:nvPicPr>
        <p:blipFill>
          <a:blip r:embed="rId3"/>
          <a:stretch>
            <a:fillRect/>
          </a:stretch>
        </p:blipFill>
        <p:spPr>
          <a:xfrm>
            <a:off x="6650829" y="2310818"/>
            <a:ext cx="4061793" cy="1821834"/>
          </a:xfrm>
          <a:prstGeom prst="rect">
            <a:avLst/>
          </a:prstGeom>
        </p:spPr>
      </p:pic>
      <p:pic>
        <p:nvPicPr>
          <p:cNvPr id="18" name="图片 17">
            <a:extLst>
              <a:ext uri="{FF2B5EF4-FFF2-40B4-BE49-F238E27FC236}">
                <a16:creationId xmlns:a16="http://schemas.microsoft.com/office/drawing/2014/main" id="{B8EF35E7-F669-4DB5-CB6E-38640D2871C2}"/>
              </a:ext>
            </a:extLst>
          </p:cNvPr>
          <p:cNvPicPr>
            <a:picLocks noChangeAspect="1"/>
          </p:cNvPicPr>
          <p:nvPr/>
        </p:nvPicPr>
        <p:blipFill>
          <a:blip r:embed="rId4"/>
          <a:stretch>
            <a:fillRect/>
          </a:stretch>
        </p:blipFill>
        <p:spPr>
          <a:xfrm>
            <a:off x="6296748" y="4654062"/>
            <a:ext cx="4677189" cy="2175437"/>
          </a:xfrm>
          <a:prstGeom prst="rect">
            <a:avLst/>
          </a:prstGeom>
        </p:spPr>
      </p:pic>
    </p:spTree>
    <p:extLst>
      <p:ext uri="{BB962C8B-B14F-4D97-AF65-F5344CB8AC3E}">
        <p14:creationId xmlns:p14="http://schemas.microsoft.com/office/powerpoint/2010/main" val="2915104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5.B+</a:t>
            </a:r>
            <a:r>
              <a:rPr lang="zh-CN" altLang="en-US" dirty="0"/>
              <a:t>树的删除</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1" dirty="0"/>
              <a:t>情况五：根删除后需要进行合并</a:t>
            </a:r>
            <a:endParaRPr lang="en-US" altLang="zh-CN" sz="1800" b="1" dirty="0"/>
          </a:p>
          <a:p>
            <a:r>
              <a:rPr lang="zh-CN" altLang="en-US" sz="1800" dirty="0">
                <a:solidFill>
                  <a:srgbClr val="333333"/>
                </a:solidFill>
                <a:latin typeface="OpenSans-Regular"/>
              </a:rPr>
              <a:t>如果剩余的儿子为</a:t>
            </a:r>
            <a:r>
              <a:rPr lang="en-US" altLang="zh-CN" sz="1800" dirty="0">
                <a:solidFill>
                  <a:srgbClr val="333333"/>
                </a:solidFill>
                <a:latin typeface="OpenSans-Regular"/>
              </a:rPr>
              <a:t>1</a:t>
            </a:r>
            <a:r>
              <a:rPr lang="zh-CN" altLang="en-US" sz="1800" dirty="0">
                <a:solidFill>
                  <a:srgbClr val="333333"/>
                </a:solidFill>
                <a:latin typeface="OpenSans-Regular"/>
              </a:rPr>
              <a:t>，则该儿子作为根</a:t>
            </a:r>
            <a:endParaRPr lang="en-US" altLang="zh-CN" sz="1800" dirty="0">
              <a:solidFill>
                <a:srgbClr val="333333"/>
              </a:solidFill>
              <a:latin typeface="OpenSans-Regular"/>
            </a:endParaRPr>
          </a:p>
          <a:p>
            <a:r>
              <a:rPr lang="zh-CN" altLang="en-US" sz="1800" dirty="0">
                <a:solidFill>
                  <a:srgbClr val="333333"/>
                </a:solidFill>
                <a:latin typeface="OpenSans-Regular"/>
              </a:rPr>
              <a:t>如果没有儿子，则删除根节点</a:t>
            </a:r>
            <a:endParaRPr lang="en-US" altLang="zh-CN" sz="1800" dirty="0"/>
          </a:p>
        </p:txBody>
      </p:sp>
    </p:spTree>
    <p:extLst>
      <p:ext uri="{BB962C8B-B14F-4D97-AF65-F5344CB8AC3E}">
        <p14:creationId xmlns:p14="http://schemas.microsoft.com/office/powerpoint/2010/main" val="1167691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94C1B9-D2E1-9AEA-C4AC-F9EACBBA03AF}"/>
              </a:ext>
            </a:extLst>
          </p:cNvPr>
          <p:cNvSpPr>
            <a:spLocks noGrp="1"/>
          </p:cNvSpPr>
          <p:nvPr>
            <p:ph type="ctrTitle"/>
          </p:nvPr>
        </p:nvSpPr>
        <p:spPr>
          <a:xfrm>
            <a:off x="841513" y="1109111"/>
            <a:ext cx="10151165" cy="2387600"/>
          </a:xfrm>
        </p:spPr>
        <p:txBody>
          <a:bodyPr/>
          <a:lstStyle/>
          <a:p>
            <a:r>
              <a:rPr lang="zh-CN" altLang="en-US" dirty="0"/>
              <a:t>多线程</a:t>
            </a:r>
            <a:r>
              <a:rPr lang="en-US" altLang="zh-CN" dirty="0"/>
              <a:t>B+</a:t>
            </a:r>
            <a:r>
              <a:rPr lang="zh-CN" altLang="en-US" dirty="0"/>
              <a:t>树</a:t>
            </a:r>
            <a:r>
              <a:rPr lang="en-US" altLang="zh-CN" dirty="0"/>
              <a:t>-Crabbing Latch</a:t>
            </a:r>
            <a:endParaRPr lang="zh-CN" altLang="en-US" dirty="0"/>
          </a:p>
        </p:txBody>
      </p:sp>
    </p:spTree>
    <p:extLst>
      <p:ext uri="{BB962C8B-B14F-4D97-AF65-F5344CB8AC3E}">
        <p14:creationId xmlns:p14="http://schemas.microsoft.com/office/powerpoint/2010/main" val="809052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p:txBody>
          <a:bodyPr/>
          <a:lstStyle/>
          <a:p>
            <a:r>
              <a:rPr lang="en-US" altLang="zh-CN" dirty="0"/>
              <a:t>1.</a:t>
            </a:r>
            <a:r>
              <a:rPr lang="zh-CN" altLang="en-US" dirty="0"/>
              <a:t>查询操作的上锁流程</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838200" y="1825624"/>
            <a:ext cx="3786809" cy="4548671"/>
          </a:xfrm>
        </p:spPr>
        <p:txBody>
          <a:bodyPr>
            <a:normAutofit/>
          </a:bodyPr>
          <a:lstStyle/>
          <a:p>
            <a:r>
              <a:rPr lang="zh-CN" altLang="en-US" sz="1800" b="0" i="0" dirty="0">
                <a:solidFill>
                  <a:srgbClr val="333333"/>
                </a:solidFill>
                <a:effectLst/>
                <a:latin typeface="PingFangSC-Regular-Identity-H"/>
              </a:rPr>
              <a:t>在 </a:t>
            </a:r>
            <a:r>
              <a:rPr lang="en-US" altLang="zh-CN" sz="1800" b="0" i="0" dirty="0">
                <a:solidFill>
                  <a:srgbClr val="333333"/>
                </a:solidFill>
                <a:effectLst/>
                <a:latin typeface="OpenSans-Regular"/>
              </a:rPr>
              <a:t>B+ </a:t>
            </a:r>
            <a:r>
              <a:rPr lang="zh-CN" altLang="en-US" sz="1800" b="0" i="0" dirty="0">
                <a:solidFill>
                  <a:srgbClr val="333333"/>
                </a:solidFill>
                <a:effectLst/>
                <a:latin typeface="PingFangSC-Regular-Identity-H"/>
              </a:rPr>
              <a:t>树上进⾏读操作时，我们从根节点开始向下搜寻。⾸先对扫描到的节点加读锁，然后在向下⼀层时，直接释放⽗节点的锁</a:t>
            </a:r>
            <a:endParaRPr lang="en-US" altLang="zh-CN" sz="1800" b="0" i="0" dirty="0">
              <a:solidFill>
                <a:srgbClr val="333333"/>
              </a:solidFill>
              <a:effectLst/>
              <a:latin typeface="PingFangSC-Regular-Identity-H"/>
            </a:endParaRPr>
          </a:p>
          <a:p>
            <a:r>
              <a:rPr lang="zh-CN" altLang="en-US" sz="1800" b="0" i="0" dirty="0">
                <a:solidFill>
                  <a:srgbClr val="333333"/>
                </a:solidFill>
                <a:effectLst/>
                <a:latin typeface="PingFangSC-Regular-Identity-H"/>
              </a:rPr>
              <a:t>这⾥能直接释放的原因是整个操作是只读的，不会变更 </a:t>
            </a:r>
            <a:r>
              <a:rPr lang="en-US" altLang="zh-CN" sz="1800" b="0" i="0" dirty="0">
                <a:solidFill>
                  <a:srgbClr val="333333"/>
                </a:solidFill>
                <a:effectLst/>
                <a:latin typeface="OpenSans-Regular"/>
              </a:rPr>
              <a:t>B+ </a:t>
            </a:r>
            <a:r>
              <a:rPr lang="zh-CN" altLang="en-US" sz="1800" b="0" i="0" dirty="0">
                <a:solidFill>
                  <a:srgbClr val="333333"/>
                </a:solidFill>
                <a:effectLst/>
                <a:latin typeface="PingFangSC-Regular-Identity-H"/>
              </a:rPr>
              <a:t>树节点的状态。</a:t>
            </a:r>
            <a:r>
              <a:rPr lang="zh-CN" altLang="en-US" sz="1200" dirty="0"/>
              <a:t> </a:t>
            </a:r>
            <a:br>
              <a:rPr lang="zh-CN" altLang="en-US" sz="1200" dirty="0"/>
            </a:br>
            <a:endParaRPr lang="en-US" altLang="zh-CN" sz="1800" dirty="0"/>
          </a:p>
        </p:txBody>
      </p:sp>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88885106-2A05-68B8-499E-BE0C3AD16760}"/>
              </a:ext>
            </a:extLst>
          </p:cNvPr>
          <p:cNvPicPr>
            <a:picLocks noChangeAspect="1"/>
          </p:cNvPicPr>
          <p:nvPr/>
        </p:nvPicPr>
        <p:blipFill>
          <a:blip r:embed="rId2"/>
          <a:stretch>
            <a:fillRect/>
          </a:stretch>
        </p:blipFill>
        <p:spPr>
          <a:xfrm>
            <a:off x="6952317" y="191590"/>
            <a:ext cx="3366052" cy="1672632"/>
          </a:xfrm>
          <a:prstGeom prst="rect">
            <a:avLst/>
          </a:prstGeom>
        </p:spPr>
      </p:pic>
      <p:pic>
        <p:nvPicPr>
          <p:cNvPr id="12" name="图片 11">
            <a:extLst>
              <a:ext uri="{FF2B5EF4-FFF2-40B4-BE49-F238E27FC236}">
                <a16:creationId xmlns:a16="http://schemas.microsoft.com/office/drawing/2014/main" id="{9764EBFC-BC4F-424C-0641-0454E79595DD}"/>
              </a:ext>
            </a:extLst>
          </p:cNvPr>
          <p:cNvPicPr>
            <a:picLocks noChangeAspect="1"/>
          </p:cNvPicPr>
          <p:nvPr/>
        </p:nvPicPr>
        <p:blipFill>
          <a:blip r:embed="rId3"/>
          <a:stretch>
            <a:fillRect/>
          </a:stretch>
        </p:blipFill>
        <p:spPr>
          <a:xfrm>
            <a:off x="6952317" y="2365786"/>
            <a:ext cx="3684104" cy="1771921"/>
          </a:xfrm>
          <a:prstGeom prst="rect">
            <a:avLst/>
          </a:prstGeom>
        </p:spPr>
      </p:pic>
      <p:pic>
        <p:nvPicPr>
          <p:cNvPr id="14" name="图片 13">
            <a:extLst>
              <a:ext uri="{FF2B5EF4-FFF2-40B4-BE49-F238E27FC236}">
                <a16:creationId xmlns:a16="http://schemas.microsoft.com/office/drawing/2014/main" id="{BD277380-6A0F-A1B8-F051-A981D33DE05C}"/>
              </a:ext>
            </a:extLst>
          </p:cNvPr>
          <p:cNvPicPr>
            <a:picLocks noChangeAspect="1"/>
          </p:cNvPicPr>
          <p:nvPr/>
        </p:nvPicPr>
        <p:blipFill>
          <a:blip r:embed="rId4"/>
          <a:stretch>
            <a:fillRect/>
          </a:stretch>
        </p:blipFill>
        <p:spPr>
          <a:xfrm>
            <a:off x="6974475" y="4677526"/>
            <a:ext cx="3531704" cy="1640994"/>
          </a:xfrm>
          <a:prstGeom prst="rect">
            <a:avLst/>
          </a:prstGeom>
        </p:spPr>
      </p:pic>
    </p:spTree>
    <p:extLst>
      <p:ext uri="{BB962C8B-B14F-4D97-AF65-F5344CB8AC3E}">
        <p14:creationId xmlns:p14="http://schemas.microsoft.com/office/powerpoint/2010/main" val="1524954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a:xfrm>
            <a:off x="0" y="191590"/>
            <a:ext cx="10515600" cy="1325563"/>
          </a:xfrm>
        </p:spPr>
        <p:txBody>
          <a:bodyPr/>
          <a:lstStyle/>
          <a:p>
            <a:r>
              <a:rPr lang="en-US" altLang="zh-CN" dirty="0"/>
              <a:t>2.</a:t>
            </a:r>
            <a:r>
              <a:rPr lang="zh-CN" altLang="en-US" dirty="0"/>
              <a:t>删除和插入的上锁流程</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1401554"/>
            <a:ext cx="3786809" cy="4548671"/>
          </a:xfrm>
        </p:spPr>
        <p:txBody>
          <a:bodyPr>
            <a:normAutofit/>
          </a:bodyPr>
          <a:lstStyle/>
          <a:p>
            <a:r>
              <a:rPr lang="zh-CN" altLang="en-US" sz="1800" b="0" i="0" dirty="0">
                <a:solidFill>
                  <a:srgbClr val="333333"/>
                </a:solidFill>
                <a:effectLst/>
                <a:latin typeface="PingFangSC-Regular-Identity-H"/>
              </a:rPr>
              <a:t>当需要对 </a:t>
            </a:r>
            <a:r>
              <a:rPr lang="en-US" altLang="zh-CN" sz="1800" b="0" i="0" dirty="0">
                <a:solidFill>
                  <a:srgbClr val="333333"/>
                </a:solidFill>
                <a:effectLst/>
                <a:latin typeface="OpenSans-Regular"/>
              </a:rPr>
              <a:t>B+ </a:t>
            </a:r>
            <a:r>
              <a:rPr lang="zh-CN" altLang="en-US" sz="1800" b="0" i="0" dirty="0">
                <a:solidFill>
                  <a:srgbClr val="333333"/>
                </a:solidFill>
                <a:effectLst/>
                <a:latin typeface="PingFangSC-Regular-Identity-H"/>
              </a:rPr>
              <a:t>树进⾏更新（写⼊</a:t>
            </a:r>
            <a:r>
              <a:rPr lang="en-US" altLang="zh-CN" sz="1800" b="0" i="0" dirty="0">
                <a:solidFill>
                  <a:srgbClr val="333333"/>
                </a:solidFill>
                <a:effectLst/>
                <a:latin typeface="OpenSans-Regular"/>
              </a:rPr>
              <a:t>/</a:t>
            </a:r>
            <a:r>
              <a:rPr lang="zh-CN" altLang="en-US" sz="1800" b="0" i="0" dirty="0">
                <a:solidFill>
                  <a:srgbClr val="333333"/>
                </a:solidFill>
                <a:effectLst/>
                <a:latin typeface="PingFangSC-Regular-Identity-H"/>
              </a:rPr>
              <a:t>删除）时，同样从根节点开始搜寻。在经过的节点上加写锁，并进⼀步判断，如果当前节点被认定为</a:t>
            </a:r>
            <a:r>
              <a:rPr lang="zh-CN" altLang="en-US" sz="1800" b="0" i="0" dirty="0">
                <a:solidFill>
                  <a:srgbClr val="333333"/>
                </a:solidFill>
                <a:effectLst/>
                <a:latin typeface="OpenSans-Regular"/>
              </a:rPr>
              <a:t>“</a:t>
            </a:r>
            <a:r>
              <a:rPr lang="zh-CN" altLang="en-US" sz="1800" b="0" i="0" dirty="0">
                <a:solidFill>
                  <a:srgbClr val="333333"/>
                </a:solidFill>
                <a:effectLst/>
                <a:latin typeface="PingFangSC-Regular-Identity-H"/>
              </a:rPr>
              <a:t>安全</a:t>
            </a:r>
            <a:r>
              <a:rPr lang="zh-CN" altLang="en-US" sz="1800" b="0" i="0" dirty="0">
                <a:solidFill>
                  <a:srgbClr val="333333"/>
                </a:solidFill>
                <a:effectLst/>
                <a:latin typeface="OpenSans-Regular"/>
              </a:rPr>
              <a:t>”</a:t>
            </a:r>
            <a:r>
              <a:rPr lang="zh-CN" altLang="en-US" sz="1800" b="0" i="0" dirty="0">
                <a:solidFill>
                  <a:srgbClr val="333333"/>
                </a:solidFill>
                <a:effectLst/>
                <a:latin typeface="PingFangSC-Regular-Identity-H"/>
              </a:rPr>
              <a:t>，那么释放所有⽗级节点的锁。</a:t>
            </a:r>
            <a:r>
              <a:rPr lang="zh-CN" altLang="en-US" sz="1200" dirty="0"/>
              <a:t> </a:t>
            </a:r>
            <a:endParaRPr lang="en-US" altLang="zh-CN" sz="1200" dirty="0"/>
          </a:p>
          <a:p>
            <a:pPr marL="0" indent="0">
              <a:buNone/>
            </a:pPr>
            <a:br>
              <a:rPr lang="zh-CN" altLang="en-US" sz="1200" dirty="0"/>
            </a:br>
            <a:endParaRPr lang="en-US" altLang="zh-CN" sz="1800" dirty="0"/>
          </a:p>
        </p:txBody>
      </p:sp>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C5051F65-7C0F-0DD7-4F8B-DDD95225AD1A}"/>
              </a:ext>
            </a:extLst>
          </p:cNvPr>
          <p:cNvPicPr>
            <a:picLocks noChangeAspect="1"/>
          </p:cNvPicPr>
          <p:nvPr/>
        </p:nvPicPr>
        <p:blipFill>
          <a:blip r:embed="rId2"/>
          <a:stretch>
            <a:fillRect/>
          </a:stretch>
        </p:blipFill>
        <p:spPr>
          <a:xfrm>
            <a:off x="6621089" y="-49764"/>
            <a:ext cx="4028507" cy="1991233"/>
          </a:xfrm>
          <a:prstGeom prst="rect">
            <a:avLst/>
          </a:prstGeom>
        </p:spPr>
      </p:pic>
      <p:pic>
        <p:nvPicPr>
          <p:cNvPr id="8" name="图片 7">
            <a:extLst>
              <a:ext uri="{FF2B5EF4-FFF2-40B4-BE49-F238E27FC236}">
                <a16:creationId xmlns:a16="http://schemas.microsoft.com/office/drawing/2014/main" id="{902F9C18-83D5-CBD5-1AFD-180B44875500}"/>
              </a:ext>
            </a:extLst>
          </p:cNvPr>
          <p:cNvPicPr>
            <a:picLocks noChangeAspect="1"/>
          </p:cNvPicPr>
          <p:nvPr/>
        </p:nvPicPr>
        <p:blipFill>
          <a:blip r:embed="rId3"/>
          <a:stretch>
            <a:fillRect/>
          </a:stretch>
        </p:blipFill>
        <p:spPr>
          <a:xfrm>
            <a:off x="6709431" y="2344605"/>
            <a:ext cx="4061791" cy="1929784"/>
          </a:xfrm>
          <a:prstGeom prst="rect">
            <a:avLst/>
          </a:prstGeom>
        </p:spPr>
      </p:pic>
      <p:pic>
        <p:nvPicPr>
          <p:cNvPr id="13" name="图片 12">
            <a:extLst>
              <a:ext uri="{FF2B5EF4-FFF2-40B4-BE49-F238E27FC236}">
                <a16:creationId xmlns:a16="http://schemas.microsoft.com/office/drawing/2014/main" id="{6C219AD6-AB73-54C0-4238-8830252EB3B1}"/>
              </a:ext>
            </a:extLst>
          </p:cNvPr>
          <p:cNvPicPr>
            <a:picLocks noChangeAspect="1"/>
          </p:cNvPicPr>
          <p:nvPr/>
        </p:nvPicPr>
        <p:blipFill>
          <a:blip r:embed="rId4"/>
          <a:stretch>
            <a:fillRect/>
          </a:stretch>
        </p:blipFill>
        <p:spPr>
          <a:xfrm>
            <a:off x="6709431" y="4610992"/>
            <a:ext cx="3942522" cy="1904341"/>
          </a:xfrm>
          <a:prstGeom prst="rect">
            <a:avLst/>
          </a:prstGeom>
        </p:spPr>
      </p:pic>
    </p:spTree>
    <p:extLst>
      <p:ext uri="{BB962C8B-B14F-4D97-AF65-F5344CB8AC3E}">
        <p14:creationId xmlns:p14="http://schemas.microsoft.com/office/powerpoint/2010/main" val="3437411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a:xfrm>
            <a:off x="0" y="191590"/>
            <a:ext cx="10515600" cy="1325563"/>
          </a:xfrm>
        </p:spPr>
        <p:txBody>
          <a:bodyPr/>
          <a:lstStyle/>
          <a:p>
            <a:r>
              <a:rPr lang="en-US" altLang="zh-CN" dirty="0"/>
              <a:t>3.</a:t>
            </a:r>
            <a:r>
              <a:rPr lang="zh-CN" altLang="en-US" dirty="0"/>
              <a:t>存在的问题</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1401554"/>
            <a:ext cx="3786809" cy="4548671"/>
          </a:xfrm>
        </p:spPr>
        <p:txBody>
          <a:bodyPr>
            <a:normAutofit/>
          </a:bodyPr>
          <a:lstStyle/>
          <a:p>
            <a:r>
              <a:rPr lang="zh-CN" altLang="en-US" sz="1800" b="0" i="0" dirty="0">
                <a:solidFill>
                  <a:srgbClr val="333333"/>
                </a:solidFill>
                <a:effectLst/>
                <a:latin typeface="PingFangSC-Regular-Identity-H"/>
              </a:rPr>
              <a:t>一、由于所有线程都从根节点开始上锁，如果根节点的锁迟迟没有释放，其他线程就会一直等待，造成效率低下。</a:t>
            </a:r>
            <a:endParaRPr lang="en-US" altLang="zh-CN" sz="1800" b="0" i="0" dirty="0">
              <a:solidFill>
                <a:srgbClr val="333333"/>
              </a:solidFill>
              <a:effectLst/>
              <a:latin typeface="PingFangSC-Regular-Identity-H"/>
            </a:endParaRPr>
          </a:p>
          <a:p>
            <a:r>
              <a:rPr lang="zh-CN" altLang="en-US" sz="1800" b="0" i="0" dirty="0">
                <a:solidFill>
                  <a:srgbClr val="333333"/>
                </a:solidFill>
                <a:effectLst/>
                <a:latin typeface="PingFangSC-Regular-Identity-H"/>
              </a:rPr>
              <a:t>引入乐观优化。假设修改操作不会引起树的形态发生变化，对沿途的节点上读锁（逻辑与查询操作一直），这样可以多个线程同时进行。如果叶子节点的操作会引起树的形态发生变化，再重新跑一编，这次沿途上写锁，与之前的删除修改逻辑相同</a:t>
            </a:r>
            <a:br>
              <a:rPr lang="zh-CN" altLang="en-US" sz="1200" dirty="0"/>
            </a:br>
            <a:endParaRPr lang="en-US" altLang="zh-CN" sz="1800" dirty="0"/>
          </a:p>
        </p:txBody>
      </p:sp>
      <p:sp>
        <p:nvSpPr>
          <p:cNvPr id="9" name="箭头: 下 8">
            <a:extLst>
              <a:ext uri="{FF2B5EF4-FFF2-40B4-BE49-F238E27FC236}">
                <a16:creationId xmlns:a16="http://schemas.microsoft.com/office/drawing/2014/main" id="{5DA0C2D0-B918-C50E-00FA-3CB1C96EB54A}"/>
              </a:ext>
            </a:extLst>
          </p:cNvPr>
          <p:cNvSpPr/>
          <p:nvPr/>
        </p:nvSpPr>
        <p:spPr>
          <a:xfrm>
            <a:off x="8522183" y="189250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6425031B-99EF-0662-7D2A-33DF76F68D50}"/>
              </a:ext>
            </a:extLst>
          </p:cNvPr>
          <p:cNvSpPr/>
          <p:nvPr/>
        </p:nvSpPr>
        <p:spPr>
          <a:xfrm>
            <a:off x="8417199" y="4204241"/>
            <a:ext cx="436288" cy="406751"/>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902F9C18-83D5-CBD5-1AFD-180B44875500}"/>
              </a:ext>
            </a:extLst>
          </p:cNvPr>
          <p:cNvPicPr>
            <a:picLocks noChangeAspect="1"/>
          </p:cNvPicPr>
          <p:nvPr/>
        </p:nvPicPr>
        <p:blipFill>
          <a:blip r:embed="rId2"/>
          <a:stretch>
            <a:fillRect/>
          </a:stretch>
        </p:blipFill>
        <p:spPr>
          <a:xfrm>
            <a:off x="6709431" y="2344605"/>
            <a:ext cx="4061791" cy="1929784"/>
          </a:xfrm>
          <a:prstGeom prst="rect">
            <a:avLst/>
          </a:prstGeom>
        </p:spPr>
      </p:pic>
      <p:pic>
        <p:nvPicPr>
          <p:cNvPr id="6" name="图片 5">
            <a:extLst>
              <a:ext uri="{FF2B5EF4-FFF2-40B4-BE49-F238E27FC236}">
                <a16:creationId xmlns:a16="http://schemas.microsoft.com/office/drawing/2014/main" id="{8AAE847E-23D0-0B5C-6C94-D84922462C68}"/>
              </a:ext>
            </a:extLst>
          </p:cNvPr>
          <p:cNvPicPr>
            <a:picLocks noChangeAspect="1"/>
          </p:cNvPicPr>
          <p:nvPr/>
        </p:nvPicPr>
        <p:blipFill>
          <a:blip r:embed="rId3"/>
          <a:stretch>
            <a:fillRect/>
          </a:stretch>
        </p:blipFill>
        <p:spPr>
          <a:xfrm>
            <a:off x="6651453" y="-77498"/>
            <a:ext cx="4177746" cy="2008377"/>
          </a:xfrm>
          <a:prstGeom prst="rect">
            <a:avLst/>
          </a:prstGeom>
        </p:spPr>
      </p:pic>
      <p:pic>
        <p:nvPicPr>
          <p:cNvPr id="11" name="图片 10">
            <a:extLst>
              <a:ext uri="{FF2B5EF4-FFF2-40B4-BE49-F238E27FC236}">
                <a16:creationId xmlns:a16="http://schemas.microsoft.com/office/drawing/2014/main" id="{183520B1-6C24-36C6-36AB-9E88ABC4ED5F}"/>
              </a:ext>
            </a:extLst>
          </p:cNvPr>
          <p:cNvPicPr>
            <a:picLocks noChangeAspect="1"/>
          </p:cNvPicPr>
          <p:nvPr/>
        </p:nvPicPr>
        <p:blipFill>
          <a:blip r:embed="rId4"/>
          <a:stretch>
            <a:fillRect/>
          </a:stretch>
        </p:blipFill>
        <p:spPr>
          <a:xfrm>
            <a:off x="6654796" y="4491883"/>
            <a:ext cx="4174403" cy="2366117"/>
          </a:xfrm>
          <a:prstGeom prst="rect">
            <a:avLst/>
          </a:prstGeom>
        </p:spPr>
      </p:pic>
    </p:spTree>
    <p:extLst>
      <p:ext uri="{BB962C8B-B14F-4D97-AF65-F5344CB8AC3E}">
        <p14:creationId xmlns:p14="http://schemas.microsoft.com/office/powerpoint/2010/main" val="22736254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95383-90C7-36B8-150D-81B8CC3B3923}"/>
              </a:ext>
            </a:extLst>
          </p:cNvPr>
          <p:cNvSpPr>
            <a:spLocks noGrp="1"/>
          </p:cNvSpPr>
          <p:nvPr>
            <p:ph type="title"/>
          </p:nvPr>
        </p:nvSpPr>
        <p:spPr>
          <a:xfrm>
            <a:off x="0" y="191590"/>
            <a:ext cx="10515600" cy="1325563"/>
          </a:xfrm>
        </p:spPr>
        <p:txBody>
          <a:bodyPr/>
          <a:lstStyle/>
          <a:p>
            <a:r>
              <a:rPr lang="en-US" altLang="zh-CN" dirty="0"/>
              <a:t>3.</a:t>
            </a:r>
            <a:r>
              <a:rPr lang="zh-CN" altLang="en-US" dirty="0"/>
              <a:t>存在的问题</a:t>
            </a:r>
          </a:p>
        </p:txBody>
      </p:sp>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1401554"/>
            <a:ext cx="3786809" cy="4548671"/>
          </a:xfrm>
        </p:spPr>
        <p:txBody>
          <a:bodyPr>
            <a:normAutofit/>
          </a:bodyPr>
          <a:lstStyle/>
          <a:p>
            <a:r>
              <a:rPr lang="zh-CN" altLang="en-US" sz="1800" b="0" i="0" dirty="0">
                <a:solidFill>
                  <a:srgbClr val="333333"/>
                </a:solidFill>
                <a:effectLst/>
                <a:latin typeface="PingFangSC-Regular-Identity-H"/>
              </a:rPr>
              <a:t>二、从上而下的锁操作已经处理好了，但是还有遍历叶子节点的操作还没有上锁操作。</a:t>
            </a:r>
            <a:endParaRPr lang="en-US" altLang="zh-CN" sz="1800" dirty="0">
              <a:solidFill>
                <a:srgbClr val="333333"/>
              </a:solidFill>
              <a:latin typeface="PingFangSC-Regular-Identity-H"/>
            </a:endParaRPr>
          </a:p>
          <a:p>
            <a:r>
              <a:rPr lang="zh-CN" altLang="en-US" sz="1800" dirty="0">
                <a:solidFill>
                  <a:srgbClr val="333333"/>
                </a:solidFill>
                <a:latin typeface="PingFangSC-Regular-Identity-H"/>
              </a:rPr>
              <a:t>假如有一个线程</a:t>
            </a:r>
            <a:r>
              <a:rPr lang="en-US" altLang="zh-CN" sz="1800" dirty="0">
                <a:solidFill>
                  <a:srgbClr val="333333"/>
                </a:solidFill>
                <a:latin typeface="PingFangSC-Regular-Identity-H"/>
              </a:rPr>
              <a:t>T1</a:t>
            </a:r>
            <a:r>
              <a:rPr lang="zh-CN" altLang="en-US" sz="1800" dirty="0">
                <a:solidFill>
                  <a:srgbClr val="333333"/>
                </a:solidFill>
                <a:latin typeface="PingFangSC-Regular-Identity-H"/>
              </a:rPr>
              <a:t>从左到右修改叶子节点，有一个线程</a:t>
            </a:r>
            <a:r>
              <a:rPr lang="en-US" altLang="zh-CN" sz="1800" dirty="0">
                <a:solidFill>
                  <a:srgbClr val="333333"/>
                </a:solidFill>
                <a:latin typeface="PingFangSC-Regular-Identity-H"/>
              </a:rPr>
              <a:t>T2</a:t>
            </a:r>
            <a:r>
              <a:rPr lang="zh-CN" altLang="en-US" sz="1800" dirty="0">
                <a:solidFill>
                  <a:srgbClr val="333333"/>
                </a:solidFill>
                <a:latin typeface="PingFangSC-Regular-Identity-H"/>
              </a:rPr>
              <a:t>从右到左修改叶子节点，两者互相持有对方的锁，就会造成死锁</a:t>
            </a:r>
            <a:endParaRPr lang="en-US" altLang="zh-CN" sz="1800" dirty="0">
              <a:solidFill>
                <a:srgbClr val="333333"/>
              </a:solidFill>
              <a:latin typeface="PingFangSC-Regular-Identity-H"/>
            </a:endParaRPr>
          </a:p>
          <a:p>
            <a:r>
              <a:rPr lang="zh-CN" altLang="en-US" sz="1800" dirty="0">
                <a:solidFill>
                  <a:srgbClr val="333333"/>
                </a:solidFill>
                <a:latin typeface="PingFangSC-Regular-Identity-H"/>
              </a:rPr>
              <a:t>最简单的解决方式是只允许从左到右进行遍历叶子。</a:t>
            </a:r>
            <a:br>
              <a:rPr lang="zh-CN" altLang="en-US" sz="1200" dirty="0"/>
            </a:br>
            <a:endParaRPr lang="en-US" altLang="zh-CN" sz="1800" dirty="0"/>
          </a:p>
        </p:txBody>
      </p:sp>
      <p:pic>
        <p:nvPicPr>
          <p:cNvPr id="5" name="图片 4">
            <a:extLst>
              <a:ext uri="{FF2B5EF4-FFF2-40B4-BE49-F238E27FC236}">
                <a16:creationId xmlns:a16="http://schemas.microsoft.com/office/drawing/2014/main" id="{156CDB99-04AC-6404-71FF-7F0AA9EDA977}"/>
              </a:ext>
            </a:extLst>
          </p:cNvPr>
          <p:cNvPicPr>
            <a:picLocks noChangeAspect="1"/>
          </p:cNvPicPr>
          <p:nvPr/>
        </p:nvPicPr>
        <p:blipFill>
          <a:blip r:embed="rId2"/>
          <a:stretch>
            <a:fillRect/>
          </a:stretch>
        </p:blipFill>
        <p:spPr>
          <a:xfrm>
            <a:off x="5155095" y="1670061"/>
            <a:ext cx="5824330" cy="2005828"/>
          </a:xfrm>
          <a:prstGeom prst="rect">
            <a:avLst/>
          </a:prstGeom>
        </p:spPr>
      </p:pic>
    </p:spTree>
    <p:extLst>
      <p:ext uri="{BB962C8B-B14F-4D97-AF65-F5344CB8AC3E}">
        <p14:creationId xmlns:p14="http://schemas.microsoft.com/office/powerpoint/2010/main" val="338848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节点内二分查找指定键值</a:t>
            </a:r>
            <a:endParaRPr lang="en-US" altLang="zh-CN" sz="1800" dirty="0"/>
          </a:p>
        </p:txBody>
      </p:sp>
      <p:pic>
        <p:nvPicPr>
          <p:cNvPr id="14" name="图片 13" descr="文本&#10;&#10;AI 生成的内容可能不正确。">
            <a:extLst>
              <a:ext uri="{FF2B5EF4-FFF2-40B4-BE49-F238E27FC236}">
                <a16:creationId xmlns:a16="http://schemas.microsoft.com/office/drawing/2014/main" id="{E98B568D-E097-9FD3-BB49-6A06F34D98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7132"/>
            <a:ext cx="11973339" cy="5381775"/>
          </a:xfrm>
          <a:prstGeom prst="rect">
            <a:avLst/>
          </a:prstGeom>
        </p:spPr>
      </p:pic>
    </p:spTree>
    <p:extLst>
      <p:ext uri="{BB962C8B-B14F-4D97-AF65-F5344CB8AC3E}">
        <p14:creationId xmlns:p14="http://schemas.microsoft.com/office/powerpoint/2010/main" val="3741181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节点内插入指定键值</a:t>
            </a:r>
            <a:endParaRPr lang="en-US" altLang="zh-CN" sz="1800" dirty="0"/>
          </a:p>
        </p:txBody>
      </p:sp>
      <p:pic>
        <p:nvPicPr>
          <p:cNvPr id="11" name="图片 10" descr="文本&#10;&#10;AI 生成的内容可能不正确。">
            <a:extLst>
              <a:ext uri="{FF2B5EF4-FFF2-40B4-BE49-F238E27FC236}">
                <a16:creationId xmlns:a16="http://schemas.microsoft.com/office/drawing/2014/main" id="{ECDBFF87-94C9-3A7C-6B9E-6E650CA33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7044"/>
            <a:ext cx="9127838" cy="5830956"/>
          </a:xfrm>
          <a:prstGeom prst="rect">
            <a:avLst/>
          </a:prstGeom>
        </p:spPr>
      </p:pic>
    </p:spTree>
    <p:extLst>
      <p:ext uri="{BB962C8B-B14F-4D97-AF65-F5344CB8AC3E}">
        <p14:creationId xmlns:p14="http://schemas.microsoft.com/office/powerpoint/2010/main" val="1576947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节点内删除指定键值</a:t>
            </a:r>
            <a:endParaRPr lang="en-US" altLang="zh-CN" sz="1800" dirty="0"/>
          </a:p>
        </p:txBody>
      </p:sp>
      <p:pic>
        <p:nvPicPr>
          <p:cNvPr id="6" name="图片 5" descr="文本&#10;&#10;AI 生成的内容可能不正确。">
            <a:extLst>
              <a:ext uri="{FF2B5EF4-FFF2-40B4-BE49-F238E27FC236}">
                <a16:creationId xmlns:a16="http://schemas.microsoft.com/office/drawing/2014/main" id="{EEF5EE64-58DA-4264-7E5D-4BA085B6A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6142"/>
            <a:ext cx="12192000" cy="3928638"/>
          </a:xfrm>
          <a:prstGeom prst="rect">
            <a:avLst/>
          </a:prstGeom>
        </p:spPr>
      </p:pic>
    </p:spTree>
    <p:extLst>
      <p:ext uri="{BB962C8B-B14F-4D97-AF65-F5344CB8AC3E}">
        <p14:creationId xmlns:p14="http://schemas.microsoft.com/office/powerpoint/2010/main" val="2306210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节点合并偷取的辅助函数</a:t>
            </a:r>
            <a:endParaRPr lang="en-US" altLang="zh-CN" sz="1800" dirty="0"/>
          </a:p>
        </p:txBody>
      </p:sp>
      <p:pic>
        <p:nvPicPr>
          <p:cNvPr id="7" name="图片 6" descr="文本&#10;&#10;AI 生成的内容可能不正确。">
            <a:extLst>
              <a:ext uri="{FF2B5EF4-FFF2-40B4-BE49-F238E27FC236}">
                <a16:creationId xmlns:a16="http://schemas.microsoft.com/office/drawing/2014/main" id="{F87E2B72-642E-31D8-026C-9B472C901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3375"/>
            <a:ext cx="7135527" cy="6094625"/>
          </a:xfrm>
          <a:prstGeom prst="rect">
            <a:avLst/>
          </a:prstGeom>
        </p:spPr>
      </p:pic>
    </p:spTree>
    <p:extLst>
      <p:ext uri="{BB962C8B-B14F-4D97-AF65-F5344CB8AC3E}">
        <p14:creationId xmlns:p14="http://schemas.microsoft.com/office/powerpoint/2010/main" val="35709386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查找函数</a:t>
            </a:r>
            <a:endParaRPr lang="en-US" altLang="zh-CN" sz="1800" dirty="0"/>
          </a:p>
        </p:txBody>
      </p:sp>
      <p:pic>
        <p:nvPicPr>
          <p:cNvPr id="6" name="图片 5" descr="文本&#10;&#10;AI 生成的内容可能不正确。">
            <a:extLst>
              <a:ext uri="{FF2B5EF4-FFF2-40B4-BE49-F238E27FC236}">
                <a16:creationId xmlns:a16="http://schemas.microsoft.com/office/drawing/2014/main" id="{5CE05660-7451-5ECE-D15E-48F002955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02365"/>
            <a:ext cx="7091210" cy="6016487"/>
          </a:xfrm>
          <a:prstGeom prst="rect">
            <a:avLst/>
          </a:prstGeom>
        </p:spPr>
      </p:pic>
    </p:spTree>
    <p:extLst>
      <p:ext uri="{BB962C8B-B14F-4D97-AF65-F5344CB8AC3E}">
        <p14:creationId xmlns:p14="http://schemas.microsoft.com/office/powerpoint/2010/main" val="2489438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查找函数</a:t>
            </a:r>
            <a:endParaRPr lang="en-US" altLang="zh-CN" sz="1800" dirty="0"/>
          </a:p>
        </p:txBody>
      </p:sp>
      <p:pic>
        <p:nvPicPr>
          <p:cNvPr id="7" name="图片 6" descr="文本&#10;&#10;AI 生成的内容可能不正确。">
            <a:extLst>
              <a:ext uri="{FF2B5EF4-FFF2-40B4-BE49-F238E27FC236}">
                <a16:creationId xmlns:a16="http://schemas.microsoft.com/office/drawing/2014/main" id="{9F169A34-7C8D-DBD1-3B02-646FA064F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2745" y="0"/>
            <a:ext cx="5242824" cy="6858000"/>
          </a:xfrm>
          <a:prstGeom prst="rect">
            <a:avLst/>
          </a:prstGeom>
        </p:spPr>
      </p:pic>
    </p:spTree>
    <p:extLst>
      <p:ext uri="{BB962C8B-B14F-4D97-AF65-F5344CB8AC3E}">
        <p14:creationId xmlns:p14="http://schemas.microsoft.com/office/powerpoint/2010/main" val="4063390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插入函数</a:t>
            </a:r>
            <a:endParaRPr lang="en-US" altLang="zh-CN" sz="1800" dirty="0"/>
          </a:p>
        </p:txBody>
      </p:sp>
      <p:pic>
        <p:nvPicPr>
          <p:cNvPr id="6" name="图片 5" descr="文本&#10;&#10;AI 生成的内容可能不正确。">
            <a:extLst>
              <a:ext uri="{FF2B5EF4-FFF2-40B4-BE49-F238E27FC236}">
                <a16:creationId xmlns:a16="http://schemas.microsoft.com/office/drawing/2014/main" id="{8248B647-1362-5334-220D-9F15571AB7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5970"/>
            <a:ext cx="12192000" cy="4538894"/>
          </a:xfrm>
          <a:prstGeom prst="rect">
            <a:avLst/>
          </a:prstGeom>
        </p:spPr>
      </p:pic>
    </p:spTree>
    <p:extLst>
      <p:ext uri="{BB962C8B-B14F-4D97-AF65-F5344CB8AC3E}">
        <p14:creationId xmlns:p14="http://schemas.microsoft.com/office/powerpoint/2010/main" val="1565585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删除函数</a:t>
            </a:r>
            <a:endParaRPr lang="en-US" altLang="zh-CN" sz="1800" dirty="0"/>
          </a:p>
        </p:txBody>
      </p:sp>
      <p:pic>
        <p:nvPicPr>
          <p:cNvPr id="9" name="图片 8" descr="文本&#10;&#10;AI 生成的内容可能不正确。">
            <a:extLst>
              <a:ext uri="{FF2B5EF4-FFF2-40B4-BE49-F238E27FC236}">
                <a16:creationId xmlns:a16="http://schemas.microsoft.com/office/drawing/2014/main" id="{FF2EA7B9-25DC-0F0D-43A9-24E76494D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3784"/>
            <a:ext cx="12192000" cy="6164216"/>
          </a:xfrm>
          <a:prstGeom prst="rect">
            <a:avLst/>
          </a:prstGeom>
        </p:spPr>
      </p:pic>
    </p:spTree>
    <p:extLst>
      <p:ext uri="{BB962C8B-B14F-4D97-AF65-F5344CB8AC3E}">
        <p14:creationId xmlns:p14="http://schemas.microsoft.com/office/powerpoint/2010/main" val="3914032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删除函数</a:t>
            </a:r>
            <a:endParaRPr lang="en-US" altLang="zh-CN" sz="1800" dirty="0"/>
          </a:p>
        </p:txBody>
      </p:sp>
      <p:pic>
        <p:nvPicPr>
          <p:cNvPr id="4" name="图片 3" descr="文本&#10;&#10;AI 生成的内容可能不正确。">
            <a:extLst>
              <a:ext uri="{FF2B5EF4-FFF2-40B4-BE49-F238E27FC236}">
                <a16:creationId xmlns:a16="http://schemas.microsoft.com/office/drawing/2014/main" id="{FB1335B3-1BEF-92F3-BF36-4E2A66279F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455" y="0"/>
            <a:ext cx="9313803" cy="6858000"/>
          </a:xfrm>
          <a:prstGeom prst="rect">
            <a:avLst/>
          </a:prstGeom>
        </p:spPr>
      </p:pic>
    </p:spTree>
    <p:extLst>
      <p:ext uri="{BB962C8B-B14F-4D97-AF65-F5344CB8AC3E}">
        <p14:creationId xmlns:p14="http://schemas.microsoft.com/office/powerpoint/2010/main" val="3832861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偷取操作</a:t>
            </a:r>
            <a:endParaRPr lang="en-US" altLang="zh-CN" sz="1800" dirty="0"/>
          </a:p>
        </p:txBody>
      </p:sp>
      <p:pic>
        <p:nvPicPr>
          <p:cNvPr id="11" name="图片 10" descr="文本&#10;&#10;AI 生成的内容可能不正确。">
            <a:extLst>
              <a:ext uri="{FF2B5EF4-FFF2-40B4-BE49-F238E27FC236}">
                <a16:creationId xmlns:a16="http://schemas.microsoft.com/office/drawing/2014/main" id="{1EA62375-175E-9766-5458-03B335069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2784" y="0"/>
            <a:ext cx="9526432" cy="6858000"/>
          </a:xfrm>
          <a:prstGeom prst="rect">
            <a:avLst/>
          </a:prstGeom>
        </p:spPr>
      </p:pic>
    </p:spTree>
    <p:extLst>
      <p:ext uri="{BB962C8B-B14F-4D97-AF65-F5344CB8AC3E}">
        <p14:creationId xmlns:p14="http://schemas.microsoft.com/office/powerpoint/2010/main" val="2706112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3749ECF-2EFC-7F69-48F5-72A151EF93BF}"/>
              </a:ext>
            </a:extLst>
          </p:cNvPr>
          <p:cNvSpPr>
            <a:spLocks noGrp="1"/>
          </p:cNvSpPr>
          <p:nvPr>
            <p:ph idx="1"/>
          </p:nvPr>
        </p:nvSpPr>
        <p:spPr>
          <a:xfrm>
            <a:off x="0" y="367885"/>
            <a:ext cx="3786809" cy="4548671"/>
          </a:xfrm>
        </p:spPr>
        <p:txBody>
          <a:bodyPr>
            <a:normAutofit/>
          </a:bodyPr>
          <a:lstStyle/>
          <a:p>
            <a:r>
              <a:rPr lang="zh-CN" altLang="en-US" sz="1800" dirty="0"/>
              <a:t>合并操作</a:t>
            </a:r>
            <a:endParaRPr lang="en-US" altLang="zh-CN" sz="1800" dirty="0"/>
          </a:p>
        </p:txBody>
      </p:sp>
      <p:pic>
        <p:nvPicPr>
          <p:cNvPr id="4" name="图片 3" descr="文本&#10;&#10;AI 生成的内容可能不正确。">
            <a:extLst>
              <a:ext uri="{FF2B5EF4-FFF2-40B4-BE49-F238E27FC236}">
                <a16:creationId xmlns:a16="http://schemas.microsoft.com/office/drawing/2014/main" id="{B35AC49A-7095-A2F5-EB15-811E54EC51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9193" y="0"/>
            <a:ext cx="5794969" cy="6858000"/>
          </a:xfrm>
          <a:prstGeom prst="rect">
            <a:avLst/>
          </a:prstGeom>
        </p:spPr>
      </p:pic>
    </p:spTree>
    <p:extLst>
      <p:ext uri="{BB962C8B-B14F-4D97-AF65-F5344CB8AC3E}">
        <p14:creationId xmlns:p14="http://schemas.microsoft.com/office/powerpoint/2010/main" val="2428912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404384C-AA58-C2AC-4782-6209A3FB9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5971102" cy="2401078"/>
          </a:xfrm>
          <a:prstGeom prst="rect">
            <a:avLst/>
          </a:prstGeom>
        </p:spPr>
      </p:pic>
      <p:pic>
        <p:nvPicPr>
          <p:cNvPr id="7" name="图片 6">
            <a:extLst>
              <a:ext uri="{FF2B5EF4-FFF2-40B4-BE49-F238E27FC236}">
                <a16:creationId xmlns:a16="http://schemas.microsoft.com/office/drawing/2014/main" id="{0A4E762A-22F0-F03A-342B-8D99BEC195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57751"/>
            <a:ext cx="6506546" cy="2200249"/>
          </a:xfrm>
          <a:prstGeom prst="rect">
            <a:avLst/>
          </a:prstGeom>
        </p:spPr>
      </p:pic>
      <p:pic>
        <p:nvPicPr>
          <p:cNvPr id="9" name="图片 8">
            <a:extLst>
              <a:ext uri="{FF2B5EF4-FFF2-40B4-BE49-F238E27FC236}">
                <a16:creationId xmlns:a16="http://schemas.microsoft.com/office/drawing/2014/main" id="{7ADA68D3-8A36-3A8F-5AC5-0C16F18026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0" y="2431571"/>
            <a:ext cx="6630978" cy="2195688"/>
          </a:xfrm>
          <a:prstGeom prst="rect">
            <a:avLst/>
          </a:prstGeom>
        </p:spPr>
      </p:pic>
    </p:spTree>
    <p:extLst>
      <p:ext uri="{BB962C8B-B14F-4D97-AF65-F5344CB8AC3E}">
        <p14:creationId xmlns:p14="http://schemas.microsoft.com/office/powerpoint/2010/main" val="133137066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634</TotalTime>
  <Words>1975</Words>
  <Application>Microsoft Office PowerPoint</Application>
  <PresentationFormat>宽屏</PresentationFormat>
  <Paragraphs>157</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-apple-system</vt:lpstr>
      <vt:lpstr>Menlo</vt:lpstr>
      <vt:lpstr>OpenSans-Regular</vt:lpstr>
      <vt:lpstr>PingFangSC-Regular-Identity-H</vt:lpstr>
      <vt:lpstr>quote-cjk-patch</vt:lpstr>
      <vt:lpstr>system-ui</vt:lpstr>
      <vt:lpstr>等线</vt:lpstr>
      <vt:lpstr>等线 Light</vt:lpstr>
      <vt:lpstr>Arial</vt:lpstr>
      <vt:lpstr>Cambria Math</vt:lpstr>
      <vt:lpstr>Lato</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Project2</vt:lpstr>
      <vt:lpstr>单线程B+树</vt:lpstr>
      <vt:lpstr>1. B+ 树节点 —— 页（Page）</vt:lpstr>
      <vt:lpstr>Internal Page</vt:lpstr>
      <vt:lpstr>Leaf Page</vt:lpstr>
      <vt:lpstr>2.B+树的结构特点</vt:lpstr>
      <vt:lpstr>3.B+树的查询</vt:lpstr>
      <vt:lpstr>4.B+树的插入</vt:lpstr>
      <vt:lpstr>5.B+树的删除</vt:lpstr>
      <vt:lpstr>5.B+树的删除</vt:lpstr>
      <vt:lpstr>5.B+树的删除</vt:lpstr>
      <vt:lpstr>5.B+树的删除</vt:lpstr>
      <vt:lpstr>5.B+树的删除</vt:lpstr>
      <vt:lpstr>5.B+树的删除</vt:lpstr>
      <vt:lpstr>多线程B+树-Crabbing Latch</vt:lpstr>
      <vt:lpstr>1.查询操作的上锁流程</vt:lpstr>
      <vt:lpstr>2.删除和插入的上锁流程</vt:lpstr>
      <vt:lpstr>3.存在的问题</vt:lpstr>
      <vt:lpstr>3.存在的问题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HanChen Zhang</dc:creator>
  <cp:lastModifiedBy>an pan</cp:lastModifiedBy>
  <cp:revision>15</cp:revision>
  <dcterms:created xsi:type="dcterms:W3CDTF">2025-12-17T08:48:41Z</dcterms:created>
  <dcterms:modified xsi:type="dcterms:W3CDTF">2025-12-23T02:34:40Z</dcterms:modified>
</cp:coreProperties>
</file>